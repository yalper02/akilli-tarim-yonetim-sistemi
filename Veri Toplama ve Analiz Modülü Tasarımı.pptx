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5431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3045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5927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75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26477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8088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2994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5721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466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330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536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0534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0525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5811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8118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2731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C8348-9926-44FA-928F-6D9C4E9FD4A7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F169896-14BB-4FBA-91E5-27556526E00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4809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2589213" y="1301262"/>
            <a:ext cx="8915399" cy="782515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rgbClr val="FF0000"/>
                </a:solidFill>
              </a:rPr>
              <a:t>Veri Toplama ve Analiz Modülü Tasarımı</a:t>
            </a:r>
            <a:endParaRPr lang="tr-TR" sz="3600">
              <a:solidFill>
                <a:srgbClr val="FF0000"/>
              </a:solidFill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2589213" y="2497015"/>
            <a:ext cx="8915399" cy="3406647"/>
          </a:xfrm>
        </p:spPr>
        <p:txBody>
          <a:bodyPr>
            <a:normAutofit fontScale="85000" lnSpcReduction="20000"/>
          </a:bodyPr>
          <a:lstStyle/>
          <a:p>
            <a:r>
              <a:rPr lang="tr-TR" sz="2400" b="1"/>
              <a:t>Amaç</a:t>
            </a:r>
          </a:p>
          <a:p>
            <a:r>
              <a:rPr lang="tr-TR" sz="2400"/>
              <a:t>IoT sensörlerinden gelen veriyi:</a:t>
            </a:r>
          </a:p>
          <a:p>
            <a:r>
              <a:rPr lang="tr-TR" sz="2400"/>
              <a:t>Toplamak </a:t>
            </a:r>
          </a:p>
          <a:p>
            <a:r>
              <a:rPr lang="tr-TR" sz="2400"/>
              <a:t>Doğrulamak </a:t>
            </a:r>
          </a:p>
          <a:p>
            <a:r>
              <a:rPr lang="tr-TR" sz="2400"/>
              <a:t>Temizlemek </a:t>
            </a:r>
          </a:p>
          <a:p>
            <a:r>
              <a:rPr lang="tr-TR" sz="2400"/>
              <a:t>Dönüştürmek </a:t>
            </a:r>
          </a:p>
          <a:p>
            <a:r>
              <a:rPr lang="tr-TR" sz="2400"/>
              <a:t>Analiz etmek </a:t>
            </a:r>
          </a:p>
          <a:p>
            <a:r>
              <a:rPr lang="tr-TR" sz="2400"/>
              <a:t>Görselleştirmek </a:t>
            </a:r>
          </a:p>
          <a:p>
            <a:r>
              <a:rPr lang="tr-TR" sz="2400"/>
              <a:t>ve Django tabanlı sistemle entegre etmek.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87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633046"/>
            <a:ext cx="8911687" cy="1178169"/>
          </a:xfrm>
        </p:spPr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Sistem Mimarisi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592925" y="1203453"/>
            <a:ext cx="755339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 Akışı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IoT Sensörleri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MQTT Broker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Django API (Consumer)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Veri İşleme Modülü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PostgreSQL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Analiz / ML Modülü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Dashboard (Web UI)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1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896814"/>
            <a:ext cx="8911687" cy="1008185"/>
          </a:xfrm>
        </p:spPr>
        <p:txBody>
          <a:bodyPr/>
          <a:lstStyle/>
          <a:p>
            <a:r>
              <a:rPr lang="tr-TR" smtClean="0">
                <a:solidFill>
                  <a:srgbClr val="FF0000"/>
                </a:solidFill>
              </a:rPr>
              <a:t>Veri </a:t>
            </a:r>
            <a:r>
              <a:rPr lang="tr-TR">
                <a:solidFill>
                  <a:srgbClr val="FF0000"/>
                </a:solidFill>
              </a:rPr>
              <a:t>Temizleme Süreci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400" b="1"/>
              <a:t>🎯 Amaç:</a:t>
            </a:r>
          </a:p>
          <a:p>
            <a:r>
              <a:rPr lang="tr-TR" sz="2400"/>
              <a:t>IoT sensörlerinden gelen ham veriyi hatalardan arındırmak ve analiz edilebilir hale getirmek.</a:t>
            </a:r>
          </a:p>
          <a:p>
            <a:pPr marL="0" indent="0">
              <a:buNone/>
            </a:pPr>
            <a:r>
              <a:rPr lang="tr-TR" sz="2400" b="1"/>
              <a:t>❌ Karşılaşılan veri problemleri:</a:t>
            </a:r>
          </a:p>
          <a:p>
            <a:r>
              <a:rPr lang="tr-TR" sz="2400" b="1"/>
              <a:t>Eksik veriler (null)</a:t>
            </a:r>
            <a:r>
              <a:rPr lang="tr-TR" sz="2400"/>
              <a:t> → sensör veri göndermemiş olabilir </a:t>
            </a:r>
          </a:p>
          <a:p>
            <a:r>
              <a:rPr lang="tr-TR" sz="2400" b="1"/>
              <a:t>Aykırı değerler</a:t>
            </a:r>
            <a:r>
              <a:rPr lang="tr-TR" sz="2400"/>
              <a:t> → örn: soil_moisture = 999 (mantıksız değer) </a:t>
            </a:r>
          </a:p>
          <a:p>
            <a:r>
              <a:rPr lang="tr-TR" sz="2400" b="1"/>
              <a:t>Yanlış veri tipleri</a:t>
            </a:r>
            <a:r>
              <a:rPr lang="tr-TR" sz="2400"/>
              <a:t> → string yerine numeric olması gereken alanlar</a:t>
            </a:r>
          </a:p>
          <a:p>
            <a:pPr marL="0" indent="0">
              <a:buNone/>
            </a:pP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838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773723"/>
            <a:ext cx="8915400" cy="506437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tr-TR" sz="3800" b="1" smtClean="0"/>
              <a:t>Temizleme </a:t>
            </a:r>
            <a:r>
              <a:rPr lang="tr-TR" sz="3800" b="1"/>
              <a:t>adımları:</a:t>
            </a:r>
          </a:p>
          <a:p>
            <a:pPr marL="0" indent="0">
              <a:buNone/>
            </a:pPr>
            <a:r>
              <a:rPr lang="tr-TR" sz="3800" b="1"/>
              <a:t>1. Eksik veri yönetimi</a:t>
            </a:r>
          </a:p>
          <a:p>
            <a:pPr marL="0" indent="0">
              <a:buNone/>
            </a:pPr>
            <a:r>
              <a:rPr lang="tr-TR" sz="3800"/>
              <a:t>Eksik veriler şu yöntemlerle düzeltilir:</a:t>
            </a:r>
          </a:p>
          <a:p>
            <a:r>
              <a:rPr lang="tr-TR" sz="3800" b="1"/>
              <a:t>Ortalama ile doldurma (mean imputation)</a:t>
            </a:r>
            <a:r>
              <a:rPr lang="tr-TR" sz="3800"/>
              <a:t> </a:t>
            </a:r>
          </a:p>
          <a:p>
            <a:r>
              <a:rPr lang="tr-TR" sz="3800" b="1"/>
              <a:t>Son geçerli değer (forward fill)</a:t>
            </a:r>
            <a:r>
              <a:rPr lang="tr-TR" sz="3800"/>
              <a:t> </a:t>
            </a:r>
          </a:p>
          <a:p>
            <a:r>
              <a:rPr lang="tr-TR" sz="3800"/>
              <a:t>Gerekirse veri tamamen silinir (çok eksikse)</a:t>
            </a:r>
          </a:p>
          <a:p>
            <a:pPr marL="0" indent="0">
              <a:buNone/>
            </a:pPr>
            <a:r>
              <a:rPr lang="tr-TR" sz="3800" b="1"/>
              <a:t>2. Aykırı değer (Outlier) tespiti</a:t>
            </a:r>
          </a:p>
          <a:p>
            <a:pPr marL="0" indent="0">
              <a:buNone/>
            </a:pPr>
            <a:r>
              <a:rPr lang="tr-TR" sz="3800"/>
              <a:t>Amaç: sensör hatalarını yakalamak</a:t>
            </a:r>
          </a:p>
          <a:p>
            <a:pPr marL="0" indent="0">
              <a:buNone/>
            </a:pPr>
            <a:r>
              <a:rPr lang="tr-TR" sz="3800"/>
              <a:t>Kullanılan yöntemler:</a:t>
            </a:r>
          </a:p>
          <a:p>
            <a:r>
              <a:rPr lang="tr-TR" sz="3800" b="1"/>
              <a:t>Z-Score yöntemi</a:t>
            </a:r>
            <a:r>
              <a:rPr lang="tr-TR" sz="3800"/>
              <a:t> </a:t>
            </a:r>
          </a:p>
          <a:p>
            <a:r>
              <a:rPr lang="tr-TR" sz="3800" b="1"/>
              <a:t>IQR (Interquartile Range)</a:t>
            </a:r>
            <a:r>
              <a:rPr lang="tr-TR" sz="3800"/>
              <a:t> </a:t>
            </a:r>
          </a:p>
          <a:p>
            <a:pPr marL="0" indent="0">
              <a:buNone/>
            </a:pPr>
            <a:r>
              <a:rPr lang="tr-TR" sz="3800"/>
              <a:t>👉 Örnek:</a:t>
            </a:r>
          </a:p>
          <a:p>
            <a:r>
              <a:rPr lang="tr-TR" sz="3800"/>
              <a:t>Nem = 999 → sistem bunu otomatik filtreler 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4455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835269"/>
            <a:ext cx="8915400" cy="5468816"/>
          </a:xfrm>
        </p:spPr>
        <p:txBody>
          <a:bodyPr/>
          <a:lstStyle/>
          <a:p>
            <a:pPr marL="0" indent="0">
              <a:buNone/>
            </a:pPr>
            <a:r>
              <a:rPr lang="tr-TR" sz="2400" b="1"/>
              <a:t>3. Format standardizasyonu</a:t>
            </a:r>
          </a:p>
          <a:p>
            <a:pPr marL="0" indent="0">
              <a:buNone/>
            </a:pPr>
            <a:r>
              <a:rPr lang="tr-TR" sz="2400"/>
              <a:t>Veri tek formatta tutulur:</a:t>
            </a:r>
          </a:p>
          <a:p>
            <a:r>
              <a:rPr lang="tr-TR" sz="2400"/>
              <a:t>Timestamp → </a:t>
            </a:r>
            <a:r>
              <a:rPr lang="tr-TR" sz="2400" b="1"/>
              <a:t>UTC formatına çevrilir</a:t>
            </a:r>
            <a:r>
              <a:rPr lang="tr-TR" sz="2400"/>
              <a:t> </a:t>
            </a:r>
          </a:p>
          <a:p>
            <a:r>
              <a:rPr lang="tr-TR" sz="2400"/>
              <a:t>Sayısal alanlar → int/float’a dönüştürülür </a:t>
            </a:r>
            <a:endParaRPr lang="tr-TR" sz="2400" smtClean="0"/>
          </a:p>
          <a:p>
            <a:pPr marL="0" indent="0">
              <a:buNone/>
            </a:pPr>
            <a:endParaRPr lang="tr-TR" sz="2400"/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110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835268"/>
            <a:ext cx="8911687" cy="1069731"/>
          </a:xfrm>
        </p:spPr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Veri Dönüştürme Süreci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1494692"/>
            <a:ext cx="8915400" cy="5081954"/>
          </a:xfrm>
        </p:spPr>
        <p:txBody>
          <a:bodyPr/>
          <a:lstStyle/>
          <a:p>
            <a:pPr marL="0" indent="0">
              <a:buNone/>
            </a:pPr>
            <a:r>
              <a:rPr lang="tr-TR" b="1"/>
              <a:t>🎯 Amaç:</a:t>
            </a:r>
          </a:p>
          <a:p>
            <a:r>
              <a:rPr lang="tr-TR"/>
              <a:t>Temiz veriyi analiz ve makine öğrenmesi için uygun hale getirmek.</a:t>
            </a:r>
          </a:p>
          <a:p>
            <a:pPr marL="0" indent="0">
              <a:buNone/>
            </a:pPr>
            <a:r>
              <a:rPr lang="tr-TR" b="1"/>
              <a:t>Feature Engineering (özellik üretimi)</a:t>
            </a:r>
          </a:p>
          <a:p>
            <a:pPr marL="0" indent="0">
              <a:buNone/>
            </a:pPr>
            <a:r>
              <a:rPr lang="tr-TR"/>
              <a:t>Sistem ham veriden yeni anlamlı özellikler üretir:</a:t>
            </a:r>
          </a:p>
          <a:p>
            <a:pPr marL="0" indent="0">
              <a:buNone/>
            </a:pPr>
            <a:r>
              <a:rPr lang="tr-TR" b="1"/>
              <a:t>1. Rolling Average</a:t>
            </a:r>
          </a:p>
          <a:p>
            <a:r>
              <a:rPr lang="tr-TR"/>
              <a:t>Son 3 saatlik nem ortalaması hesaplanır </a:t>
            </a:r>
          </a:p>
          <a:p>
            <a:r>
              <a:rPr lang="tr-TR"/>
              <a:t>Ani değişimleri yumuşatır</a:t>
            </a:r>
          </a:p>
          <a:p>
            <a:pPr marL="0" indent="0">
              <a:buNone/>
            </a:pPr>
            <a:r>
              <a:rPr lang="tr-TR" b="1"/>
              <a:t>2. Lag Features</a:t>
            </a:r>
          </a:p>
          <a:p>
            <a:r>
              <a:rPr lang="tr-TR"/>
              <a:t>Geçmiş veri kullanılır </a:t>
            </a:r>
          </a:p>
          <a:p>
            <a:r>
              <a:rPr lang="tr-TR"/>
              <a:t>Örn: </a:t>
            </a:r>
            <a:r>
              <a:rPr lang="tr-TR" b="1"/>
              <a:t>1 saat önceki nem değeri</a:t>
            </a:r>
            <a:endParaRPr lang="tr-TR"/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806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>
              <a:xfrm>
                <a:off x="2589212" y="782515"/>
                <a:ext cx="8915400" cy="583809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tr-TR" sz="2400" b="1" smtClean="0"/>
                  <a:t>3. Normalizasyon (Scaling)</a:t>
                </a:r>
              </a:p>
              <a:p>
                <a:r>
                  <a:rPr lang="tr-TR" sz="2400"/>
                  <a:t>Veriler 0–1 aralığına çekilir: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b="0" i="1" smtClean="0">
                            <a:latin typeface="Cambria Math" panose="02040503050406030204" pitchFamily="18" charset="0"/>
                          </a:rPr>
                          <m:t>𝑚𝑜𝑖𝑠𝑡𝑢𝑟𝑒</m:t>
                        </m:r>
                      </m:e>
                      <m:sub>
                        <m:r>
                          <a:rPr lang="tr-TR" sz="2400" b="0" i="1" smtClean="0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</m:oMath>
                </a14:m>
                <a:r>
                  <a:rPr lang="tr-TR" sz="2400" smtClean="0"/>
                  <a:t> </a:t>
                </a:r>
                <a14:m>
                  <m:oMath xmlns:m="http://schemas.openxmlformats.org/officeDocument/2006/math">
                    <m:r>
                      <a:rPr lang="tr-T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tr-T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tr-T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𝑚𝑜𝑖𝑠𝑡𝑢𝑟𝑒</m:t>
                        </m:r>
                        <m:r>
                          <a:rPr lang="tr-T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r>
                          <a:rPr lang="tr-T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𝑚𝑖𝑛</m:t>
                        </m:r>
                      </m:num>
                      <m:den>
                        <m:func>
                          <m:funcPr>
                            <m:ctrlPr>
                              <a:rPr lang="tr-T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tr-TR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tr-T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</m:t>
                            </m:r>
                            <m:r>
                              <a:rPr lang="tr-T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𝑚𝑖𝑛</m:t>
                            </m:r>
                          </m:e>
                        </m:func>
                      </m:den>
                    </m:f>
                  </m:oMath>
                </a14:m>
                <a:endParaRPr lang="tr-TR" sz="2400"/>
              </a:p>
              <a:p>
                <a:pPr marL="0" indent="0">
                  <a:buNone/>
                </a:pPr>
                <a:r>
                  <a:rPr lang="tr-TR" sz="2400"/>
                  <a:t>👉 Bu sayede model daha stabil </a:t>
                </a:r>
                <a:r>
                  <a:rPr lang="tr-TR" sz="2400" smtClean="0"/>
                  <a:t>çalışır</a:t>
                </a:r>
              </a:p>
              <a:p>
                <a:pPr marL="0" indent="0">
                  <a:buNone/>
                </a:pPr>
                <a:r>
                  <a:rPr lang="tr-TR" sz="2400" b="1"/>
                  <a:t>🎯 Sonuç:</a:t>
                </a:r>
              </a:p>
              <a:p>
                <a:r>
                  <a:rPr lang="tr-TR" sz="2400"/>
                  <a:t>Veri modelleme için hazır hale gelir </a:t>
                </a:r>
              </a:p>
              <a:p>
                <a:r>
                  <a:rPr lang="tr-TR" sz="2400"/>
                  <a:t>Algoritmalar daha doğru sonuç üretir</a:t>
                </a:r>
              </a:p>
              <a:p>
                <a:pPr marL="0" indent="0">
                  <a:buNone/>
                </a:pPr>
                <a:endParaRPr lang="tr-TR" sz="2400"/>
              </a:p>
              <a:p>
                <a:pPr marL="0" indent="0">
                  <a:buNone/>
                </a:pPr>
                <a:endParaRPr lang="tr-TR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782515"/>
                <a:ext cx="8915400" cy="5838093"/>
              </a:xfrm>
              <a:blipFill>
                <a:blip r:embed="rId2"/>
                <a:stretch>
                  <a:fillRect l="-1094" t="-835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483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817684"/>
            <a:ext cx="8911687" cy="1087315"/>
          </a:xfrm>
        </p:spPr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Veri Doğrulama Süreci 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492496" y="1500554"/>
            <a:ext cx="8915400" cy="46716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400" b="1"/>
              <a:t>🎯 Amaç:</a:t>
            </a:r>
          </a:p>
          <a:p>
            <a:r>
              <a:rPr lang="tr-TR" sz="2400"/>
              <a:t>Sisteme giren verinin </a:t>
            </a:r>
            <a:r>
              <a:rPr lang="tr-TR" sz="2400" b="1"/>
              <a:t>mantıklı ve güvenilir</a:t>
            </a:r>
            <a:r>
              <a:rPr lang="tr-TR" sz="2400"/>
              <a:t> olduğunu garanti etmek.</a:t>
            </a:r>
          </a:p>
          <a:p>
            <a:pPr marL="0" indent="0">
              <a:buNone/>
            </a:pPr>
            <a:r>
              <a:rPr lang="tr-TR" sz="2400" b="1"/>
              <a:t>📌 Doğrulama kuralları:</a:t>
            </a:r>
          </a:p>
          <a:p>
            <a:pPr marL="0" indent="0">
              <a:buNone/>
            </a:pPr>
            <a:r>
              <a:rPr lang="tr-TR" sz="2400" b="1"/>
              <a:t>1. Nem kontrolü</a:t>
            </a:r>
          </a:p>
          <a:p>
            <a:r>
              <a:rPr lang="tr-TR" sz="2400"/>
              <a:t>0 ≤ soil_moisture ≤ 100 </a:t>
            </a:r>
            <a:r>
              <a:rPr lang="tr-TR" sz="2400" smtClean="0"/>
              <a:t>olmalı</a:t>
            </a:r>
          </a:p>
          <a:p>
            <a:pPr marL="0" indent="0">
              <a:buNone/>
            </a:pPr>
            <a:r>
              <a:rPr lang="tr-TR" sz="2400" b="1"/>
              <a:t>2. Sıcaklık kontrolü</a:t>
            </a:r>
          </a:p>
          <a:p>
            <a:r>
              <a:rPr lang="tr-TR" sz="2400"/>
              <a:t>-30°C ile 60°C arasında </a:t>
            </a:r>
            <a:r>
              <a:rPr lang="tr-TR" sz="2400" smtClean="0"/>
              <a:t>olmalı</a:t>
            </a:r>
          </a:p>
          <a:p>
            <a:pPr marL="0" indent="0">
              <a:buNone/>
            </a:pPr>
            <a:r>
              <a:rPr lang="tr-TR" sz="2400" b="1"/>
              <a:t>3. Zaman kontrolü</a:t>
            </a:r>
          </a:p>
          <a:p>
            <a:r>
              <a:rPr lang="tr-TR" sz="2400"/>
              <a:t>Timestamp </a:t>
            </a:r>
            <a:r>
              <a:rPr lang="tr-TR" sz="2400" b="1"/>
              <a:t>gelecekte olamaz</a:t>
            </a:r>
            <a:r>
              <a:rPr lang="tr-TR" sz="2400"/>
              <a:t> </a:t>
            </a:r>
          </a:p>
          <a:p>
            <a:endParaRPr lang="tr-TR"/>
          </a:p>
          <a:p>
            <a:endParaRPr lang="tr-TR"/>
          </a:p>
          <a:p>
            <a:pPr marL="0" indent="0">
              <a:buNone/>
            </a:pP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7223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888022"/>
            <a:ext cx="8915400" cy="5495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/>
              <a:t>Backend seviyesinde kontrol (Django örneği</a:t>
            </a:r>
            <a:r>
              <a:rPr lang="tr-TR" sz="2400" smtClean="0"/>
              <a:t>):</a:t>
            </a:r>
          </a:p>
          <a:p>
            <a:r>
              <a:rPr lang="en-US" sz="2400"/>
              <a:t>if not (0 &lt;= soil_moisture &lt;= 100):</a:t>
            </a:r>
            <a:br>
              <a:rPr lang="en-US" sz="2400"/>
            </a:br>
            <a:r>
              <a:rPr lang="en-US" sz="2400"/>
              <a:t>raise ValueError("Invalid moisture value</a:t>
            </a:r>
            <a:r>
              <a:rPr lang="en-US" sz="2400" smtClean="0"/>
              <a:t>")</a:t>
            </a:r>
            <a:endParaRPr lang="tr-TR" sz="2400" smtClean="0"/>
          </a:p>
          <a:p>
            <a:pPr marL="0" indent="0">
              <a:buNone/>
            </a:pPr>
            <a:r>
              <a:rPr lang="tr-TR" sz="2400" b="1"/>
              <a:t>🎯 Sonuç:</a:t>
            </a:r>
          </a:p>
          <a:p>
            <a:r>
              <a:rPr lang="tr-TR" sz="2400"/>
              <a:t>Hatalı veri sisteme girmez </a:t>
            </a:r>
          </a:p>
          <a:p>
            <a:r>
              <a:rPr lang="tr-TR" sz="2400"/>
              <a:t>Analiz sonuçları güvenilir olur </a:t>
            </a:r>
          </a:p>
          <a:p>
            <a:r>
              <a:rPr lang="tr-TR" sz="2400"/>
              <a:t>Sistem stabil çalışır </a:t>
            </a:r>
          </a:p>
          <a:p>
            <a:endParaRPr lang="tr-TR" sz="2400"/>
          </a:p>
        </p:txBody>
      </p:sp>
    </p:spTree>
    <p:extLst>
      <p:ext uri="{BB962C8B-B14F-4D97-AF65-F5344CB8AC3E}">
        <p14:creationId xmlns:p14="http://schemas.microsoft.com/office/powerpoint/2010/main" val="59461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89212" y="764931"/>
            <a:ext cx="8911687" cy="1230923"/>
          </a:xfrm>
        </p:spPr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Veri Analizi Modülü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1415562"/>
            <a:ext cx="8915400" cy="4495660"/>
          </a:xfrm>
        </p:spPr>
        <p:txBody>
          <a:bodyPr/>
          <a:lstStyle/>
          <a:p>
            <a:pPr marL="0" indent="0">
              <a:buNone/>
            </a:pPr>
            <a:r>
              <a:rPr lang="tr-TR" sz="2400" b="1"/>
              <a:t>İstatistiksel Analiz</a:t>
            </a:r>
          </a:p>
          <a:p>
            <a:r>
              <a:rPr lang="tr-TR" sz="2400"/>
              <a:t>Ortalama (mean) </a:t>
            </a:r>
          </a:p>
          <a:p>
            <a:r>
              <a:rPr lang="tr-TR" sz="2400"/>
              <a:t>Varyans / standart sapma </a:t>
            </a:r>
          </a:p>
          <a:p>
            <a:r>
              <a:rPr lang="tr-TR" sz="2400"/>
              <a:t>Trend analizi </a:t>
            </a:r>
          </a:p>
          <a:p>
            <a:pPr marL="0" indent="0">
              <a:buNone/>
            </a:pPr>
            <a:r>
              <a:rPr lang="tr-TR" sz="2400"/>
              <a:t>👉 Amaç: genel durum </a:t>
            </a:r>
            <a:r>
              <a:rPr lang="tr-TR" sz="2400" smtClean="0"/>
              <a:t>tespiti</a:t>
            </a:r>
          </a:p>
          <a:p>
            <a:pPr marL="0" indent="0">
              <a:buNone/>
            </a:pPr>
            <a:r>
              <a:rPr lang="en-US" sz="2400" b="1"/>
              <a:t>Zaman Serisi Analizi</a:t>
            </a:r>
          </a:p>
          <a:p>
            <a:r>
              <a:rPr lang="en-US" sz="2400"/>
              <a:t>Moving average </a:t>
            </a:r>
          </a:p>
          <a:p>
            <a:r>
              <a:rPr lang="en-US" sz="2400"/>
              <a:t>Seasonal trend detection </a:t>
            </a:r>
          </a:p>
          <a:p>
            <a:r>
              <a:rPr lang="en-US" sz="2400"/>
              <a:t>Anomaly detection</a:t>
            </a:r>
          </a:p>
          <a:p>
            <a:pPr marL="0" indent="0">
              <a:buNone/>
            </a:pPr>
            <a:endParaRPr lang="tr-TR"/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8779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931985"/>
            <a:ext cx="8915400" cy="4979237"/>
          </a:xfrm>
        </p:spPr>
        <p:txBody>
          <a:bodyPr/>
          <a:lstStyle/>
          <a:p>
            <a:pPr marL="0" indent="0">
              <a:buNone/>
            </a:pPr>
            <a:r>
              <a:rPr lang="tr-TR" sz="2400" b="1"/>
              <a:t>Makine Öğrenmesi</a:t>
            </a:r>
          </a:p>
          <a:p>
            <a:pPr marL="0" indent="0">
              <a:buNone/>
            </a:pPr>
            <a:r>
              <a:rPr lang="tr-TR" sz="2400" b="1"/>
              <a:t>Kullanılabilecek algoritmalar:</a:t>
            </a:r>
          </a:p>
          <a:p>
            <a:pPr marL="0" indent="0">
              <a:buNone/>
            </a:pPr>
            <a:r>
              <a:rPr lang="tr-TR" sz="2400" b="1"/>
              <a:t>🌲 Random Forest</a:t>
            </a:r>
          </a:p>
          <a:p>
            <a:r>
              <a:rPr lang="tr-TR" sz="2400"/>
              <a:t>Sulama ihtiyacı tahmini </a:t>
            </a:r>
          </a:p>
          <a:p>
            <a:pPr marL="0" indent="0">
              <a:buNone/>
            </a:pPr>
            <a:r>
              <a:rPr lang="tr-TR" sz="2400" b="1"/>
              <a:t>📈 XGBoost</a:t>
            </a:r>
          </a:p>
          <a:p>
            <a:r>
              <a:rPr lang="tr-TR" sz="2400"/>
              <a:t>Yüksek doğruluklu karar modeli </a:t>
            </a:r>
          </a:p>
          <a:p>
            <a:pPr marL="0" indent="0">
              <a:buNone/>
            </a:pPr>
            <a:r>
              <a:rPr lang="tr-TR" sz="2400" b="1"/>
              <a:t>🔁 LSTM</a:t>
            </a:r>
          </a:p>
          <a:p>
            <a:r>
              <a:rPr lang="tr-TR" sz="2400"/>
              <a:t>Zaman serisi tahmini (nem/sıcaklık) </a:t>
            </a:r>
          </a:p>
          <a:p>
            <a:pPr marL="0" indent="0">
              <a:buNone/>
            </a:pPr>
            <a:r>
              <a:rPr lang="tr-TR" sz="2400" b="1"/>
              <a:t>📊 Regression Models</a:t>
            </a:r>
          </a:p>
          <a:p>
            <a:r>
              <a:rPr lang="tr-TR" sz="2400"/>
              <a:t>Su ihtiyacı tahmini (continuous output)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613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870438"/>
            <a:ext cx="8911687" cy="1034562"/>
          </a:xfrm>
        </p:spPr>
        <p:txBody>
          <a:bodyPr/>
          <a:lstStyle/>
          <a:p>
            <a:r>
              <a:rPr lang="tr-TR" smtClean="0">
                <a:solidFill>
                  <a:srgbClr val="FF0000"/>
                </a:solidFill>
              </a:rPr>
              <a:t>Python ve Django </a:t>
            </a:r>
            <a:r>
              <a:rPr lang="tr-TR">
                <a:solidFill>
                  <a:srgbClr val="FF0000"/>
                </a:solidFill>
              </a:rPr>
              <a:t>ile Entegrasyon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1820008"/>
            <a:ext cx="8915400" cy="40912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smtClean="0"/>
              <a:t>Yapı</a:t>
            </a:r>
          </a:p>
          <a:p>
            <a:pPr marL="0" indent="0">
              <a:buNone/>
            </a:pPr>
            <a:r>
              <a:rPr lang="tr-TR" sz="2400" smtClean="0"/>
              <a:t>Django App’ler:</a:t>
            </a:r>
          </a:p>
          <a:p>
            <a:r>
              <a:rPr lang="tr-TR" sz="2400" smtClean="0"/>
              <a:t>sensors → veri alma</a:t>
            </a:r>
          </a:p>
          <a:p>
            <a:r>
              <a:rPr lang="tr-TR" sz="2400" smtClean="0"/>
              <a:t>analytics → analiz</a:t>
            </a:r>
          </a:p>
          <a:p>
            <a:r>
              <a:rPr lang="tr-TR" sz="2400"/>
              <a:t>ml_models </a:t>
            </a:r>
            <a:r>
              <a:rPr lang="tr-TR" sz="2400" smtClean="0"/>
              <a:t>→ tahmin</a:t>
            </a:r>
          </a:p>
          <a:p>
            <a:r>
              <a:rPr lang="tr-TR" sz="2400" smtClean="0"/>
              <a:t>dashboard → görselleştirme</a:t>
            </a:r>
            <a:endParaRPr lang="tr-TR" sz="2400"/>
          </a:p>
        </p:txBody>
      </p:sp>
    </p:spTree>
    <p:extLst>
      <p:ext uri="{BB962C8B-B14F-4D97-AF65-F5344CB8AC3E}">
        <p14:creationId xmlns:p14="http://schemas.microsoft.com/office/powerpoint/2010/main" val="2558035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852854"/>
            <a:ext cx="8911687" cy="1052146"/>
          </a:xfrm>
        </p:spPr>
        <p:txBody>
          <a:bodyPr/>
          <a:lstStyle/>
          <a:p>
            <a:r>
              <a:rPr lang="tr-TR">
                <a:solidFill>
                  <a:schemeClr val="tx1"/>
                </a:solidFill>
              </a:rPr>
              <a:t>MQTT → Django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1661746"/>
            <a:ext cx="8915400" cy="4249476"/>
          </a:xfrm>
        </p:spPr>
        <p:txBody>
          <a:bodyPr>
            <a:normAutofit/>
          </a:bodyPr>
          <a:lstStyle/>
          <a:p>
            <a:r>
              <a:rPr lang="tr-TR" sz="2400">
                <a:solidFill>
                  <a:srgbClr val="FF9FFA"/>
                </a:solidFill>
              </a:rPr>
              <a:t>def</a:t>
            </a:r>
            <a:r>
              <a:rPr lang="tr-TR" sz="2400"/>
              <a:t> </a:t>
            </a:r>
            <a:r>
              <a:rPr lang="tr-TR" sz="2400">
                <a:solidFill>
                  <a:srgbClr val="7030A0"/>
                </a:solidFill>
              </a:rPr>
              <a:t>mqtt_callback</a:t>
            </a:r>
            <a:r>
              <a:rPr lang="tr-TR" sz="2400"/>
              <a:t>(</a:t>
            </a:r>
            <a:r>
              <a:rPr lang="tr-TR" sz="2400">
                <a:solidFill>
                  <a:srgbClr val="7030A0"/>
                </a:solidFill>
              </a:rPr>
              <a:t>data</a:t>
            </a:r>
            <a:r>
              <a:rPr lang="tr-TR" sz="2400"/>
              <a:t>):</a:t>
            </a:r>
            <a:br>
              <a:rPr lang="tr-TR" sz="2400"/>
            </a:br>
            <a:r>
              <a:rPr lang="tr-TR" sz="2400" smtClean="0"/>
              <a:t>       </a:t>
            </a:r>
            <a:r>
              <a:rPr lang="tr-TR" sz="2400" smtClean="0">
                <a:solidFill>
                  <a:srgbClr val="7030A0"/>
                </a:solidFill>
              </a:rPr>
              <a:t>SensorData</a:t>
            </a:r>
            <a:r>
              <a:rPr lang="tr-TR" sz="2400" smtClean="0">
                <a:solidFill>
                  <a:srgbClr val="FF9FFA"/>
                </a:solidFill>
              </a:rPr>
              <a:t>.</a:t>
            </a:r>
            <a:r>
              <a:rPr lang="tr-TR" sz="2400" smtClean="0"/>
              <a:t>objects</a:t>
            </a:r>
            <a:r>
              <a:rPr lang="tr-TR" sz="2400" smtClean="0">
                <a:solidFill>
                  <a:srgbClr val="FF9FFA"/>
                </a:solidFill>
              </a:rPr>
              <a:t>.</a:t>
            </a:r>
            <a:r>
              <a:rPr lang="tr-TR" sz="2400" smtClean="0"/>
              <a:t>create</a:t>
            </a:r>
            <a:r>
              <a:rPr lang="tr-TR" sz="2400"/>
              <a:t>(</a:t>
            </a:r>
            <a:br>
              <a:rPr lang="tr-TR" sz="2400"/>
            </a:br>
            <a:r>
              <a:rPr lang="tr-TR" sz="2400" smtClean="0"/>
              <a:t>               </a:t>
            </a:r>
            <a:r>
              <a:rPr lang="tr-TR" sz="2400" smtClean="0">
                <a:solidFill>
                  <a:srgbClr val="7030A0"/>
                </a:solidFill>
              </a:rPr>
              <a:t>moisture</a:t>
            </a:r>
            <a:r>
              <a:rPr lang="tr-TR" sz="2400" smtClean="0">
                <a:solidFill>
                  <a:srgbClr val="FF9FFA"/>
                </a:solidFill>
              </a:rPr>
              <a:t>=</a:t>
            </a:r>
            <a:r>
              <a:rPr lang="tr-TR" sz="2400" smtClean="0">
                <a:solidFill>
                  <a:srgbClr val="7030A0"/>
                </a:solidFill>
              </a:rPr>
              <a:t>data</a:t>
            </a:r>
            <a:r>
              <a:rPr lang="tr-TR" sz="2400"/>
              <a:t>[</a:t>
            </a:r>
            <a:r>
              <a:rPr lang="tr-TR" sz="2400">
                <a:solidFill>
                  <a:srgbClr val="00B050"/>
                </a:solidFill>
              </a:rPr>
              <a:t>"soil_moisture"</a:t>
            </a:r>
            <a:r>
              <a:rPr lang="tr-TR" sz="2400"/>
              <a:t>],</a:t>
            </a:r>
            <a:br>
              <a:rPr lang="tr-TR" sz="2400"/>
            </a:br>
            <a:r>
              <a:rPr lang="tr-TR" sz="2400" smtClean="0"/>
              <a:t>               </a:t>
            </a:r>
            <a:r>
              <a:rPr lang="tr-TR" sz="2400" smtClean="0">
                <a:solidFill>
                  <a:srgbClr val="7030A0"/>
                </a:solidFill>
              </a:rPr>
              <a:t>temperature</a:t>
            </a:r>
            <a:r>
              <a:rPr lang="tr-TR" sz="2400" smtClean="0">
                <a:solidFill>
                  <a:srgbClr val="FF9FFA"/>
                </a:solidFill>
              </a:rPr>
              <a:t>=</a:t>
            </a:r>
            <a:r>
              <a:rPr lang="tr-TR" sz="2400" smtClean="0">
                <a:solidFill>
                  <a:srgbClr val="7030A0"/>
                </a:solidFill>
              </a:rPr>
              <a:t>data</a:t>
            </a:r>
            <a:r>
              <a:rPr lang="tr-TR" sz="2400"/>
              <a:t>[</a:t>
            </a:r>
            <a:r>
              <a:rPr lang="tr-TR" sz="2400">
                <a:solidFill>
                  <a:srgbClr val="00B050"/>
                </a:solidFill>
              </a:rPr>
              <a:t>"temperature"</a:t>
            </a:r>
            <a:r>
              <a:rPr lang="tr-TR" sz="2400"/>
              <a:t>]</a:t>
            </a:r>
            <a:br>
              <a:rPr lang="tr-TR" sz="2400"/>
            </a:br>
            <a:r>
              <a:rPr lang="tr-TR" sz="2400" smtClean="0"/>
              <a:t>       )</a:t>
            </a:r>
            <a:endParaRPr lang="tr-TR" sz="2400" smtClean="0"/>
          </a:p>
          <a:p>
            <a:pPr marL="0" indent="0">
              <a:buNone/>
            </a:pPr>
            <a:r>
              <a:rPr lang="tr-TR" sz="2400" b="1"/>
              <a:t>Celery (opsiyonel ama güçlü)</a:t>
            </a:r>
          </a:p>
          <a:p>
            <a:r>
              <a:rPr lang="tr-TR" sz="2400"/>
              <a:t>Veri geldikçe async işleme </a:t>
            </a:r>
          </a:p>
          <a:p>
            <a:r>
              <a:rPr lang="tr-TR" sz="2400"/>
              <a:t>Model çalıştırma </a:t>
            </a:r>
          </a:p>
          <a:p>
            <a:r>
              <a:rPr lang="tr-TR" sz="2400"/>
              <a:t>Batch analiz</a:t>
            </a:r>
          </a:p>
          <a:p>
            <a:endParaRPr lang="tr-TR" sz="2400"/>
          </a:p>
        </p:txBody>
      </p:sp>
    </p:spTree>
    <p:extLst>
      <p:ext uri="{BB962C8B-B14F-4D97-AF65-F5344CB8AC3E}">
        <p14:creationId xmlns:p14="http://schemas.microsoft.com/office/powerpoint/2010/main" val="2254155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826476"/>
            <a:ext cx="8911687" cy="1078523"/>
          </a:xfrm>
        </p:spPr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Veri Görselleştirme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1626576"/>
            <a:ext cx="8915400" cy="4284645"/>
          </a:xfrm>
        </p:spPr>
        <p:txBody>
          <a:bodyPr/>
          <a:lstStyle/>
          <a:p>
            <a:pPr marL="0" indent="0">
              <a:buNone/>
            </a:pPr>
            <a:r>
              <a:rPr lang="tr-TR" sz="2400" b="1"/>
              <a:t>Web tarafı (Django)</a:t>
            </a:r>
          </a:p>
          <a:p>
            <a:pPr marL="0" indent="0">
              <a:buNone/>
            </a:pPr>
            <a:r>
              <a:rPr lang="tr-TR" sz="2400" b="1"/>
              <a:t>📈 Kullanılacak kütüphaneler:</a:t>
            </a:r>
          </a:p>
          <a:p>
            <a:r>
              <a:rPr lang="tr-TR" sz="2400"/>
              <a:t>Chart.js (frontend grafikler) </a:t>
            </a:r>
          </a:p>
          <a:p>
            <a:r>
              <a:rPr lang="tr-TR" sz="2400"/>
              <a:t>Plotly (interaktif grafikler) </a:t>
            </a:r>
          </a:p>
          <a:p>
            <a:r>
              <a:rPr lang="tr-TR" sz="2400"/>
              <a:t>Matplotlib (backend analiz grafikleri) </a:t>
            </a:r>
          </a:p>
          <a:p>
            <a:r>
              <a:rPr lang="tr-TR" sz="2400"/>
              <a:t>Seaborn (istatistiksel grafikler)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5985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940777"/>
            <a:ext cx="8915400" cy="52490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400" b="1"/>
              <a:t>Görselleştirme Türleri:</a:t>
            </a:r>
          </a:p>
          <a:p>
            <a:pPr marL="0" indent="0">
              <a:buNone/>
            </a:pPr>
            <a:r>
              <a:rPr lang="tr-TR" sz="2400" b="1" smtClean="0"/>
              <a:t>Zaman </a:t>
            </a:r>
            <a:r>
              <a:rPr lang="tr-TR" sz="2400" b="1"/>
              <a:t>serisi grafikleri</a:t>
            </a:r>
          </a:p>
          <a:p>
            <a:r>
              <a:rPr lang="tr-TR" sz="2400"/>
              <a:t>Nem değişimi </a:t>
            </a:r>
          </a:p>
          <a:p>
            <a:r>
              <a:rPr lang="tr-TR" sz="2400"/>
              <a:t>Sıcaklık trendi </a:t>
            </a:r>
          </a:p>
          <a:p>
            <a:pPr marL="0" indent="0">
              <a:buNone/>
            </a:pPr>
            <a:r>
              <a:rPr lang="tr-TR" sz="2400" b="1"/>
              <a:t>💧 Bar chart</a:t>
            </a:r>
          </a:p>
          <a:p>
            <a:r>
              <a:rPr lang="tr-TR" sz="2400"/>
              <a:t>Günlük su tüketimi </a:t>
            </a:r>
          </a:p>
          <a:p>
            <a:pPr marL="0" indent="0">
              <a:buNone/>
            </a:pPr>
            <a:r>
              <a:rPr lang="tr-TR" sz="2400" b="1"/>
              <a:t>📉 Heatmap</a:t>
            </a:r>
          </a:p>
          <a:p>
            <a:r>
              <a:rPr lang="tr-TR" sz="2400"/>
              <a:t>Alan bazlı nem </a:t>
            </a:r>
            <a:r>
              <a:rPr lang="tr-TR" sz="2400" smtClean="0"/>
              <a:t>dağılımı</a:t>
            </a:r>
          </a:p>
          <a:p>
            <a:pPr marL="0" indent="0">
              <a:buNone/>
            </a:pPr>
            <a:r>
              <a:rPr lang="tr-TR" sz="2400" b="1"/>
              <a:t>🔁 Real-time Dashboard</a:t>
            </a:r>
          </a:p>
          <a:p>
            <a:r>
              <a:rPr lang="tr-TR" sz="2400"/>
              <a:t>WebSocket (Django Channels) </a:t>
            </a:r>
          </a:p>
          <a:p>
            <a:r>
              <a:rPr lang="tr-TR" sz="2400"/>
              <a:t>Canlı sensör verisi </a:t>
            </a:r>
          </a:p>
          <a:p>
            <a:endParaRPr lang="tr-TR"/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12327555"/>
      </p:ext>
    </p:extLst>
  </p:cSld>
  <p:clrMapOvr>
    <a:masterClrMapping/>
  </p:clrMapOvr>
</p:sld>
</file>

<file path=ppt/theme/theme1.xml><?xml version="1.0" encoding="utf-8"?>
<a:theme xmlns:a="http://schemas.openxmlformats.org/drawingml/2006/main" name="Duman">
  <a:themeElements>
    <a:clrScheme name="Duma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Duma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uma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92</TotalTime>
  <Words>468</Words>
  <Application>Microsoft Office PowerPoint</Application>
  <PresentationFormat>Geniş ekran</PresentationFormat>
  <Paragraphs>123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1" baseType="lpstr">
      <vt:lpstr>Arial</vt:lpstr>
      <vt:lpstr>Arial Unicode MS</vt:lpstr>
      <vt:lpstr>Cambria Math</vt:lpstr>
      <vt:lpstr>Century Gothic</vt:lpstr>
      <vt:lpstr>Wingdings 3</vt:lpstr>
      <vt:lpstr>Duman</vt:lpstr>
      <vt:lpstr>Veri Toplama ve Analiz Modülü Tasarımı</vt:lpstr>
      <vt:lpstr>Sistem Mimarisi</vt:lpstr>
      <vt:lpstr>Veri Temizleme Süreci</vt:lpstr>
      <vt:lpstr>PowerPoint Sunusu</vt:lpstr>
      <vt:lpstr>PowerPoint Sunusu</vt:lpstr>
      <vt:lpstr>Veri Dönüştürme Süreci</vt:lpstr>
      <vt:lpstr>PowerPoint Sunusu</vt:lpstr>
      <vt:lpstr>Veri Doğrulama Süreci </vt:lpstr>
      <vt:lpstr>PowerPoint Sunusu</vt:lpstr>
      <vt:lpstr>Veri Analizi Modülü</vt:lpstr>
      <vt:lpstr>PowerPoint Sunusu</vt:lpstr>
      <vt:lpstr>Python ve Django ile Entegrasyon</vt:lpstr>
      <vt:lpstr>MQTT → Django</vt:lpstr>
      <vt:lpstr>Veri Görselleştirme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 Toplama ve Analiz Modülü Tasarımı</dc:title>
  <dc:creator>Alper</dc:creator>
  <cp:lastModifiedBy>Alper</cp:lastModifiedBy>
  <cp:revision>6</cp:revision>
  <dcterms:created xsi:type="dcterms:W3CDTF">2026-05-03T09:16:13Z</dcterms:created>
  <dcterms:modified xsi:type="dcterms:W3CDTF">2026-05-03T14:52:35Z</dcterms:modified>
</cp:coreProperties>
</file>