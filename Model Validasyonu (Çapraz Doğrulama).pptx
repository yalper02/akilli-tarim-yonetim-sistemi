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EF2"/>
    <a:srgbClr val="DF66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250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71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4562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631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894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403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521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835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34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740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3623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8913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9977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0621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010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703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5170A-BD7F-419E-B0CF-E36C393D89D3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9F42495-F76C-47DC-B575-96A4A84D7F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366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2589213" y="2725615"/>
            <a:ext cx="8915399" cy="1415562"/>
          </a:xfrm>
        </p:spPr>
        <p:txBody>
          <a:bodyPr>
            <a:normAutofit fontScale="90000"/>
          </a:bodyPr>
          <a:lstStyle/>
          <a:p>
            <a:r>
              <a:rPr lang="tr-TR" sz="3600">
                <a:solidFill>
                  <a:srgbClr val="FF0000"/>
                </a:solidFill>
              </a:rPr>
              <a:t>Model </a:t>
            </a:r>
            <a:r>
              <a:rPr lang="tr-TR" sz="3600" smtClean="0">
                <a:solidFill>
                  <a:srgbClr val="FF0000"/>
                </a:solidFill>
              </a:rPr>
              <a:t>Validasyonu </a:t>
            </a:r>
            <a:r>
              <a:rPr lang="tr-TR" sz="3600">
                <a:solidFill>
                  <a:srgbClr val="FF0000"/>
                </a:solidFill>
              </a:rPr>
              <a:t>(Çapraz Doğrulama)</a:t>
            </a:r>
            <a:r>
              <a:rPr lang="tr-TR" sz="3600" b="1">
                <a:solidFill>
                  <a:srgbClr val="FF0000"/>
                </a:solidFill>
              </a:rPr>
              <a:t/>
            </a:r>
            <a:br>
              <a:rPr lang="tr-TR" sz="3600" b="1">
                <a:solidFill>
                  <a:srgbClr val="FF0000"/>
                </a:solidFill>
              </a:rPr>
            </a:br>
            <a:endParaRPr lang="tr-TR" sz="3600">
              <a:solidFill>
                <a:srgbClr val="FF0000"/>
              </a:solidFill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2589213" y="3780693"/>
            <a:ext cx="8915399" cy="2122970"/>
          </a:xfrm>
        </p:spPr>
        <p:txBody>
          <a:bodyPr/>
          <a:lstStyle/>
          <a:p>
            <a:r>
              <a:rPr lang="tr-TR" sz="2000" b="1"/>
              <a:t>🎯 Amaç</a:t>
            </a:r>
          </a:p>
          <a:p>
            <a:r>
              <a:rPr lang="tr-TR" sz="2000"/>
              <a:t>Modelin </a:t>
            </a:r>
            <a:r>
              <a:rPr lang="tr-TR" sz="2000" b="1"/>
              <a:t>genelleme yeteneğini ölçmek</a:t>
            </a:r>
            <a:r>
              <a:rPr lang="tr-TR" sz="2000"/>
              <a:t> </a:t>
            </a:r>
          </a:p>
          <a:p>
            <a:r>
              <a:rPr lang="tr-TR" sz="2000"/>
              <a:t>Overfitting (ezberleme) riskini azaltmak </a:t>
            </a:r>
          </a:p>
          <a:p>
            <a:r>
              <a:rPr lang="tr-TR" sz="2000"/>
              <a:t>En iyi modeli seçmek 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016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Çapraz Doğrulama Nedir?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371600"/>
            <a:ext cx="8915400" cy="4539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/>
              <a:t>Veriyi tek seferde train/test diye ayırmak yerine:</a:t>
            </a:r>
          </a:p>
          <a:p>
            <a:r>
              <a:rPr lang="tr-TR" sz="2000"/>
              <a:t>Veriyi parçalara bölersin (fold) </a:t>
            </a:r>
          </a:p>
          <a:p>
            <a:r>
              <a:rPr lang="tr-TR" sz="2000"/>
              <a:t>Her parça sırayla test edilir </a:t>
            </a:r>
          </a:p>
          <a:p>
            <a:pPr marL="0" indent="0">
              <a:buNone/>
            </a:pPr>
            <a:r>
              <a:rPr lang="tr-TR" sz="2000"/>
              <a:t>En yaygın yöntem:</a:t>
            </a:r>
          </a:p>
          <a:p>
            <a:pPr marL="0" indent="0">
              <a:buNone/>
            </a:pPr>
            <a:r>
              <a:rPr lang="tr-TR" sz="2000" b="1"/>
              <a:t>📊 K-Fold Cross Validation</a:t>
            </a:r>
          </a:p>
          <a:p>
            <a:pPr marL="0" indent="0">
              <a:buNone/>
            </a:pPr>
            <a:r>
              <a:rPr lang="tr-TR" sz="2000" smtClean="0"/>
              <a:t>K-Fold: Veri k parçaya bölünür, her seferinde 1 parça test, k - 1 parça eğitim için kullanılır.</a:t>
            </a:r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69847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Nasıl Çalışır?</a:t>
            </a:r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7849"/>
              </p:ext>
            </p:extLst>
          </p:nvPr>
        </p:nvGraphicFramePr>
        <p:xfrm>
          <a:off x="2032000" y="1494692"/>
          <a:ext cx="8255001" cy="4756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667">
                  <a:extLst>
                    <a:ext uri="{9D8B030D-6E8A-4147-A177-3AD203B41FA5}">
                      <a16:colId xmlns:a16="http://schemas.microsoft.com/office/drawing/2014/main" val="4077243835"/>
                    </a:ext>
                  </a:extLst>
                </a:gridCol>
                <a:gridCol w="2751667">
                  <a:extLst>
                    <a:ext uri="{9D8B030D-6E8A-4147-A177-3AD203B41FA5}">
                      <a16:colId xmlns:a16="http://schemas.microsoft.com/office/drawing/2014/main" val="1809990363"/>
                    </a:ext>
                  </a:extLst>
                </a:gridCol>
                <a:gridCol w="2751667">
                  <a:extLst>
                    <a:ext uri="{9D8B030D-6E8A-4147-A177-3AD203B41FA5}">
                      <a16:colId xmlns:a16="http://schemas.microsoft.com/office/drawing/2014/main" val="2358361679"/>
                    </a:ext>
                  </a:extLst>
                </a:gridCol>
              </a:tblGrid>
              <a:tr h="792773"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Fold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Eğitim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Test</a:t>
                      </a:r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291245"/>
                  </a:ext>
                </a:extLst>
              </a:tr>
              <a:tr h="792773"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1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%80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%20</a:t>
                      </a:r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77963"/>
                  </a:ext>
                </a:extLst>
              </a:tr>
              <a:tr h="792773"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2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mtClean="0"/>
                        <a:t>%80</a:t>
                      </a:r>
                    </a:p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mtClean="0"/>
                        <a:t>%20</a:t>
                      </a:r>
                    </a:p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816943"/>
                  </a:ext>
                </a:extLst>
              </a:tr>
              <a:tr h="792773"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3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mtClean="0"/>
                        <a:t>%80</a:t>
                      </a:r>
                    </a:p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mtClean="0"/>
                        <a:t>%20</a:t>
                      </a:r>
                    </a:p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23495"/>
                  </a:ext>
                </a:extLst>
              </a:tr>
              <a:tr h="792773"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4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mtClean="0"/>
                        <a:t>%80</a:t>
                      </a:r>
                    </a:p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mtClean="0"/>
                        <a:t>%20</a:t>
                      </a:r>
                    </a:p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145179"/>
                  </a:ext>
                </a:extLst>
              </a:tr>
              <a:tr h="792773">
                <a:tc>
                  <a:txBody>
                    <a:bodyPr/>
                    <a:lstStyle/>
                    <a:p>
                      <a:pPr algn="ctr"/>
                      <a:r>
                        <a:rPr lang="tr-TR" smtClean="0"/>
                        <a:t>5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mtClean="0"/>
                        <a:t>%80</a:t>
                      </a:r>
                    </a:p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mtClean="0"/>
                        <a:t>%20</a:t>
                      </a:r>
                    </a:p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2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747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783796" y="646568"/>
            <a:ext cx="5445682" cy="4522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/>
              <a:t>Sonuç:</a:t>
            </a:r>
            <a:br>
              <a:rPr lang="tr-TR" sz="2000"/>
            </a:br>
            <a:r>
              <a:rPr lang="tr-TR" sz="2000"/>
              <a:t>👉 5 farklı skor elde edilir</a:t>
            </a:r>
            <a:br>
              <a:rPr lang="tr-TR" sz="2000"/>
            </a:br>
            <a:r>
              <a:rPr lang="tr-TR" sz="2000"/>
              <a:t>👉 </a:t>
            </a:r>
            <a:r>
              <a:rPr lang="tr-TR" sz="2000"/>
              <a:t>Ortalama </a:t>
            </a:r>
            <a:r>
              <a:rPr lang="tr-TR" sz="2000" smtClean="0"/>
              <a:t>alınır</a:t>
            </a:r>
          </a:p>
          <a:p>
            <a:pPr marL="0" indent="0">
              <a:buNone/>
            </a:pPr>
            <a:endParaRPr lang="tr-TR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783796" y="1583338"/>
            <a:ext cx="7916442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Time Series Cross Validation (ÖNERİLEN)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 kronolojik sırayla bölünür:</a:t>
            </a:r>
            <a:endParaRPr kumimoji="0" lang="tr-TR" altLang="tr-TR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Train: [1,2,3] → Test: [4]</a:t>
            </a:r>
            <a:br>
              <a:rPr kumimoji="0" lang="tr-TR" alt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Train: [1,2,3,4] → Test: [5]</a:t>
            </a:r>
            <a:br>
              <a:rPr kumimoji="0" lang="tr-TR" alt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Train: [1,2,3,4,5] → Test: [6]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👉 Gelecek veriyi tahmin etmeyi </a:t>
            </a:r>
            <a:r>
              <a:rPr kumimoji="0" lang="tr-TR" alt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simüle </a:t>
            </a:r>
            <a:r>
              <a:rPr kumimoji="0" lang="tr-TR" alt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eder</a:t>
            </a:r>
          </a:p>
          <a:p>
            <a:r>
              <a:rPr lang="tr-TR" b="1" smtClean="0">
                <a:solidFill>
                  <a:srgbClr val="FF0000"/>
                </a:solidFill>
              </a:rPr>
              <a:t>Performans Metrikleri</a:t>
            </a:r>
          </a:p>
          <a:p>
            <a:r>
              <a:rPr lang="tr-TR" b="1" smtClean="0"/>
              <a:t>Regression (ör: sulama miktarı tahmini)</a:t>
            </a:r>
          </a:p>
          <a:p>
            <a:r>
              <a:rPr lang="tr-TR" smtClean="0"/>
              <a:t>MAE (Mean Absolute Error) </a:t>
            </a:r>
          </a:p>
          <a:p>
            <a:r>
              <a:rPr lang="tr-TR" smtClean="0"/>
              <a:t>RMSE </a:t>
            </a:r>
          </a:p>
          <a:p>
            <a:r>
              <a:rPr lang="tr-TR" smtClean="0"/>
              <a:t>R² Score </a:t>
            </a:r>
          </a:p>
          <a:p>
            <a:r>
              <a:rPr lang="tr-TR" b="1" smtClean="0"/>
              <a:t>Classification (ör: sulama gerekli mi?)</a:t>
            </a:r>
          </a:p>
          <a:p>
            <a:r>
              <a:rPr lang="tr-TR" smtClean="0"/>
              <a:t>Accuracy </a:t>
            </a:r>
          </a:p>
          <a:p>
            <a:r>
              <a:rPr lang="tr-TR" smtClean="0"/>
              <a:t>Precision </a:t>
            </a:r>
          </a:p>
          <a:p>
            <a:r>
              <a:rPr lang="tr-TR" smtClean="0"/>
              <a:t>Recall </a:t>
            </a:r>
          </a:p>
          <a:p>
            <a:r>
              <a:rPr lang="tr-TR" smtClean="0"/>
              <a:t>F1-score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507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1452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Python ile Uygulama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591408"/>
            <a:ext cx="8915400" cy="4319814"/>
          </a:xfrm>
        </p:spPr>
        <p:txBody>
          <a:bodyPr/>
          <a:lstStyle/>
          <a:p>
            <a:r>
              <a:rPr lang="tr-TR"/>
              <a:t>K-Fold </a:t>
            </a:r>
            <a:r>
              <a:rPr lang="tr-TR" smtClean="0"/>
              <a:t>Örneği</a:t>
            </a:r>
          </a:p>
          <a:p>
            <a:pPr marL="0" indent="0">
              <a:buNone/>
            </a:pPr>
            <a:r>
              <a:rPr lang="tr-TR" sz="1600">
                <a:solidFill>
                  <a:srgbClr val="FA8EF2"/>
                </a:solidFill>
              </a:rPr>
              <a:t>from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sklearn</a:t>
            </a:r>
            <a:r>
              <a:rPr lang="tr-TR" sz="1600">
                <a:solidFill>
                  <a:srgbClr val="FA8EF2"/>
                </a:solidFill>
              </a:rPr>
              <a:t>.</a:t>
            </a:r>
            <a:r>
              <a:rPr lang="tr-TR" sz="1600">
                <a:solidFill>
                  <a:srgbClr val="7030A0"/>
                </a:solidFill>
              </a:rPr>
              <a:t>model_selection</a:t>
            </a:r>
            <a:r>
              <a:rPr lang="tr-TR" sz="1600"/>
              <a:t> </a:t>
            </a:r>
            <a:r>
              <a:rPr lang="tr-TR" sz="1600">
                <a:solidFill>
                  <a:srgbClr val="FA8EF2"/>
                </a:solidFill>
              </a:rPr>
              <a:t>import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KFold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cross_val_score</a:t>
            </a:r>
            <a:r>
              <a:rPr lang="tr-TR" sz="1600"/>
              <a:t/>
            </a:r>
            <a:br>
              <a:rPr lang="tr-TR" sz="1600"/>
            </a:br>
            <a:r>
              <a:rPr lang="tr-TR" sz="1600">
                <a:solidFill>
                  <a:srgbClr val="FA8EF2"/>
                </a:solidFill>
              </a:rPr>
              <a:t>from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sklearn</a:t>
            </a:r>
            <a:r>
              <a:rPr lang="tr-TR" sz="1600">
                <a:solidFill>
                  <a:srgbClr val="FA8EF2"/>
                </a:solidFill>
              </a:rPr>
              <a:t>.</a:t>
            </a:r>
            <a:r>
              <a:rPr lang="tr-TR" sz="1600">
                <a:solidFill>
                  <a:srgbClr val="7030A0"/>
                </a:solidFill>
              </a:rPr>
              <a:t>ensemble</a:t>
            </a:r>
            <a:r>
              <a:rPr lang="tr-TR" sz="1600"/>
              <a:t> </a:t>
            </a:r>
            <a:r>
              <a:rPr lang="tr-TR" sz="1600">
                <a:solidFill>
                  <a:srgbClr val="FA8EF2"/>
                </a:solidFill>
              </a:rPr>
              <a:t>import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RandomForestRegressor</a:t>
            </a:r>
            <a:r>
              <a:rPr lang="tr-TR" sz="1600"/>
              <a:t/>
            </a:r>
            <a:br>
              <a:rPr lang="tr-TR" sz="1600"/>
            </a:br>
            <a:r>
              <a:rPr lang="tr-TR" sz="1600"/>
              <a:t/>
            </a:r>
            <a:br>
              <a:rPr lang="tr-TR" sz="1600"/>
            </a:br>
            <a:r>
              <a:rPr lang="tr-TR" sz="1600">
                <a:solidFill>
                  <a:srgbClr val="7030A0"/>
                </a:solidFill>
              </a:rPr>
              <a:t>model</a:t>
            </a:r>
            <a:r>
              <a:rPr lang="tr-TR" sz="1600"/>
              <a:t> 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RandomForestRegressor</a:t>
            </a:r>
            <a:r>
              <a:rPr lang="tr-TR" sz="1600"/>
              <a:t>()</a:t>
            </a:r>
            <a:br>
              <a:rPr lang="tr-TR" sz="1600"/>
            </a:br>
            <a:r>
              <a:rPr lang="tr-TR" sz="1600"/>
              <a:t/>
            </a:r>
            <a:br>
              <a:rPr lang="tr-TR" sz="1600"/>
            </a:br>
            <a:r>
              <a:rPr lang="tr-TR" sz="1600">
                <a:solidFill>
                  <a:srgbClr val="7030A0"/>
                </a:solidFill>
              </a:rPr>
              <a:t>kf</a:t>
            </a:r>
            <a:r>
              <a:rPr lang="tr-TR" sz="1600"/>
              <a:t> 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KFold</a:t>
            </a:r>
            <a:r>
              <a:rPr lang="tr-TR" sz="1600"/>
              <a:t>(</a:t>
            </a:r>
            <a:r>
              <a:rPr lang="tr-TR" sz="1600">
                <a:solidFill>
                  <a:srgbClr val="7030A0"/>
                </a:solidFill>
              </a:rPr>
              <a:t>n_splits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>
                <a:solidFill>
                  <a:srgbClr val="DF660B"/>
                </a:solidFill>
              </a:rPr>
              <a:t>5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shuffle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>
                <a:solidFill>
                  <a:srgbClr val="DF660B"/>
                </a:solidFill>
              </a:rPr>
              <a:t>True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random_state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>
                <a:solidFill>
                  <a:srgbClr val="DF660B"/>
                </a:solidFill>
              </a:rPr>
              <a:t>42</a:t>
            </a:r>
            <a:r>
              <a:rPr lang="tr-TR" sz="1600"/>
              <a:t>)</a:t>
            </a:r>
            <a:r>
              <a:rPr lang="tr-TR"/>
              <a:t/>
            </a:r>
            <a:br>
              <a:rPr lang="tr-TR"/>
            </a:br>
            <a:r>
              <a:rPr lang="tr-TR"/>
              <a:t/>
            </a:r>
            <a:br>
              <a:rPr lang="tr-TR"/>
            </a:br>
            <a:r>
              <a:rPr lang="tr-TR" sz="1600">
                <a:solidFill>
                  <a:srgbClr val="7030A0"/>
                </a:solidFill>
              </a:rPr>
              <a:t>scores</a:t>
            </a:r>
            <a:r>
              <a:rPr lang="tr-TR" sz="1600"/>
              <a:t> 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cross_val_score</a:t>
            </a:r>
            <a:r>
              <a:rPr lang="tr-TR" sz="1600"/>
              <a:t>(</a:t>
            </a:r>
            <a:r>
              <a:rPr lang="tr-TR" sz="1600">
                <a:solidFill>
                  <a:srgbClr val="7030A0"/>
                </a:solidFill>
              </a:rPr>
              <a:t>model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X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y</a:t>
            </a:r>
            <a:r>
              <a:rPr lang="tr-TR" sz="1600"/>
              <a:t>, </a:t>
            </a:r>
            <a:r>
              <a:rPr lang="tr-TR" sz="1600" smtClean="0">
                <a:solidFill>
                  <a:srgbClr val="7030A0"/>
                </a:solidFill>
              </a:rPr>
              <a:t>cv</a:t>
            </a:r>
            <a:r>
              <a:rPr lang="tr-TR" sz="1600" smtClean="0">
                <a:solidFill>
                  <a:srgbClr val="FA8EF2"/>
                </a:solidFill>
              </a:rPr>
              <a:t>=</a:t>
            </a:r>
            <a:r>
              <a:rPr lang="tr-TR" sz="1600" smtClean="0">
                <a:solidFill>
                  <a:srgbClr val="7030A0"/>
                </a:solidFill>
              </a:rPr>
              <a:t>kf</a:t>
            </a:r>
            <a:r>
              <a:rPr lang="tr-TR" sz="1600" smtClean="0"/>
              <a:t>, </a:t>
            </a:r>
            <a:r>
              <a:rPr lang="tr-TR" sz="1600" smtClean="0">
                <a:solidFill>
                  <a:srgbClr val="7030A0"/>
                </a:solidFill>
              </a:rPr>
              <a:t>scoring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>
                <a:solidFill>
                  <a:srgbClr val="00B050"/>
                </a:solidFill>
              </a:rPr>
              <a:t>'neg_mean_absolute_error'</a:t>
            </a:r>
            <a:r>
              <a:rPr lang="tr-TR" sz="1600"/>
              <a:t>)</a:t>
            </a:r>
            <a:r>
              <a:rPr lang="tr-TR"/>
              <a:t/>
            </a:r>
            <a:br>
              <a:rPr lang="tr-TR"/>
            </a:br>
            <a:r>
              <a:rPr lang="tr-TR"/>
              <a:t/>
            </a:r>
            <a:br>
              <a:rPr lang="tr-TR"/>
            </a:br>
            <a:r>
              <a:rPr lang="tr-TR" sz="1600">
                <a:solidFill>
                  <a:srgbClr val="7030A0"/>
                </a:solidFill>
              </a:rPr>
              <a:t>print</a:t>
            </a:r>
            <a:r>
              <a:rPr lang="tr-TR" sz="1600"/>
              <a:t>(</a:t>
            </a:r>
            <a:r>
              <a:rPr lang="tr-TR" sz="1600">
                <a:solidFill>
                  <a:srgbClr val="00B050"/>
                </a:solidFill>
              </a:rPr>
              <a:t>"MAE:"</a:t>
            </a:r>
            <a:r>
              <a:rPr lang="tr-TR" sz="1600"/>
              <a:t>, </a:t>
            </a:r>
            <a:r>
              <a:rPr lang="tr-TR" sz="1600">
                <a:solidFill>
                  <a:srgbClr val="FA8EF2"/>
                </a:solidFill>
              </a:rPr>
              <a:t>-</a:t>
            </a:r>
            <a:r>
              <a:rPr lang="tr-TR" sz="1600">
                <a:solidFill>
                  <a:srgbClr val="7030A0"/>
                </a:solidFill>
              </a:rPr>
              <a:t>scores</a:t>
            </a:r>
            <a:r>
              <a:rPr lang="tr-TR" sz="1600">
                <a:solidFill>
                  <a:srgbClr val="FA8EF2"/>
                </a:solidFill>
              </a:rPr>
              <a:t>.</a:t>
            </a:r>
            <a:r>
              <a:rPr lang="tr-TR" sz="1600"/>
              <a:t>mean())</a:t>
            </a:r>
          </a:p>
        </p:txBody>
      </p:sp>
    </p:spTree>
    <p:extLst>
      <p:ext uri="{BB962C8B-B14F-4D97-AF65-F5344CB8AC3E}">
        <p14:creationId xmlns:p14="http://schemas.microsoft.com/office/powerpoint/2010/main" val="281313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808892"/>
            <a:ext cx="8915400" cy="5102330"/>
          </a:xfrm>
        </p:spPr>
        <p:txBody>
          <a:bodyPr/>
          <a:lstStyle/>
          <a:p>
            <a:r>
              <a:rPr lang="tr-TR"/>
              <a:t>Time Series </a:t>
            </a:r>
            <a:r>
              <a:rPr lang="tr-TR"/>
              <a:t>Cross </a:t>
            </a:r>
            <a:r>
              <a:rPr lang="tr-TR" smtClean="0"/>
              <a:t>Validation</a:t>
            </a:r>
          </a:p>
          <a:p>
            <a:pPr marL="0" indent="0">
              <a:buNone/>
            </a:pPr>
            <a:r>
              <a:rPr lang="tr-TR" sz="1600">
                <a:solidFill>
                  <a:srgbClr val="FA8EF2"/>
                </a:solidFill>
              </a:rPr>
              <a:t>from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sklearn</a:t>
            </a:r>
            <a:r>
              <a:rPr lang="tr-TR" sz="1600">
                <a:solidFill>
                  <a:srgbClr val="FA8EF2"/>
                </a:solidFill>
              </a:rPr>
              <a:t>.</a:t>
            </a:r>
            <a:r>
              <a:rPr lang="tr-TR" sz="1600">
                <a:solidFill>
                  <a:srgbClr val="7030A0"/>
                </a:solidFill>
              </a:rPr>
              <a:t>model_selection</a:t>
            </a:r>
            <a:r>
              <a:rPr lang="tr-TR" sz="1600"/>
              <a:t> </a:t>
            </a:r>
            <a:r>
              <a:rPr lang="tr-TR" sz="1600">
                <a:solidFill>
                  <a:srgbClr val="FA8EF2"/>
                </a:solidFill>
              </a:rPr>
              <a:t>import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TimeSeriesSplit</a:t>
            </a:r>
            <a:br>
              <a:rPr lang="tr-TR" sz="1600">
                <a:solidFill>
                  <a:srgbClr val="7030A0"/>
                </a:solidFill>
              </a:rPr>
            </a:br>
            <a:r>
              <a:rPr lang="tr-TR" sz="1600"/>
              <a:t/>
            </a:r>
            <a:br>
              <a:rPr lang="tr-TR" sz="1600"/>
            </a:br>
            <a:r>
              <a:rPr lang="tr-TR" sz="1600">
                <a:solidFill>
                  <a:srgbClr val="7030A0"/>
                </a:solidFill>
              </a:rPr>
              <a:t>tscv</a:t>
            </a:r>
            <a:r>
              <a:rPr lang="tr-TR" sz="1600"/>
              <a:t> 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TimeSeriesSplit</a:t>
            </a:r>
            <a:r>
              <a:rPr lang="tr-TR" sz="1600"/>
              <a:t>(</a:t>
            </a:r>
            <a:r>
              <a:rPr lang="tr-TR" sz="1600">
                <a:solidFill>
                  <a:srgbClr val="7030A0"/>
                </a:solidFill>
              </a:rPr>
              <a:t>n_splits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>
                <a:solidFill>
                  <a:srgbClr val="DF660B"/>
                </a:solidFill>
              </a:rPr>
              <a:t>5</a:t>
            </a:r>
            <a:r>
              <a:rPr lang="tr-TR" sz="1600"/>
              <a:t>)</a:t>
            </a:r>
            <a:br>
              <a:rPr lang="tr-TR" sz="1600"/>
            </a:br>
            <a:r>
              <a:rPr lang="tr-TR" sz="1600"/>
              <a:t/>
            </a:r>
            <a:br>
              <a:rPr lang="tr-TR" sz="1600"/>
            </a:br>
            <a:r>
              <a:rPr lang="tr-TR" sz="1600">
                <a:solidFill>
                  <a:srgbClr val="7030A0"/>
                </a:solidFill>
              </a:rPr>
              <a:t>scores</a:t>
            </a:r>
            <a:r>
              <a:rPr lang="tr-TR" sz="1600"/>
              <a:t> 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cross_val_score</a:t>
            </a:r>
            <a:r>
              <a:rPr lang="tr-TR" sz="1600"/>
              <a:t>(</a:t>
            </a:r>
            <a:r>
              <a:rPr lang="tr-TR" sz="1600">
                <a:solidFill>
                  <a:srgbClr val="7030A0"/>
                </a:solidFill>
              </a:rPr>
              <a:t>model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X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y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cv</a:t>
            </a:r>
            <a:r>
              <a:rPr lang="tr-TR" sz="1600">
                <a:solidFill>
                  <a:srgbClr val="FA8EF2"/>
                </a:solidFill>
              </a:rPr>
              <a:t>=</a:t>
            </a:r>
            <a:r>
              <a:rPr lang="tr-TR" sz="1600">
                <a:solidFill>
                  <a:srgbClr val="7030A0"/>
                </a:solidFill>
              </a:rPr>
              <a:t>tscv</a:t>
            </a:r>
            <a:r>
              <a:rPr lang="tr-TR" sz="1600"/>
              <a:t>)</a:t>
            </a:r>
            <a:br>
              <a:rPr lang="tr-TR" sz="1600"/>
            </a:br>
            <a:r>
              <a:rPr lang="tr-TR" sz="1600"/>
              <a:t/>
            </a:r>
            <a:br>
              <a:rPr lang="tr-TR" sz="1600"/>
            </a:br>
            <a:r>
              <a:rPr lang="tr-TR" sz="1600">
                <a:solidFill>
                  <a:srgbClr val="7030A0"/>
                </a:solidFill>
              </a:rPr>
              <a:t>print</a:t>
            </a:r>
            <a:r>
              <a:rPr lang="tr-TR" sz="1600">
                <a:solidFill>
                  <a:schemeClr val="tx1"/>
                </a:solidFill>
              </a:rPr>
              <a:t>(</a:t>
            </a:r>
            <a:r>
              <a:rPr lang="tr-TR" sz="1600">
                <a:solidFill>
                  <a:srgbClr val="00B050"/>
                </a:solidFill>
              </a:rPr>
              <a:t>"Score:"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scores</a:t>
            </a:r>
            <a:r>
              <a:rPr lang="tr-TR" sz="1600">
                <a:solidFill>
                  <a:srgbClr val="FA8EF2"/>
                </a:solidFill>
              </a:rPr>
              <a:t>.</a:t>
            </a:r>
            <a:r>
              <a:rPr lang="tr-TR" sz="1600"/>
              <a:t>mean())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75394"/>
      </p:ext>
    </p:extLst>
  </p:cSld>
  <p:clrMapOvr>
    <a:masterClrMapping/>
  </p:clrMapOvr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</TotalTime>
  <Words>149</Words>
  <Application>Microsoft Office PowerPoint</Application>
  <PresentationFormat>Geniş ekran</PresentationFormat>
  <Paragraphs>52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1" baseType="lpstr">
      <vt:lpstr>Arial</vt:lpstr>
      <vt:lpstr>Arial Unicode MS</vt:lpstr>
      <vt:lpstr>Century Gothic</vt:lpstr>
      <vt:lpstr>Wingdings 3</vt:lpstr>
      <vt:lpstr>Duman</vt:lpstr>
      <vt:lpstr>Model Validasyonu (Çapraz Doğrulama) </vt:lpstr>
      <vt:lpstr>Çapraz Doğrulama Nedir?</vt:lpstr>
      <vt:lpstr>Nasıl Çalışır?</vt:lpstr>
      <vt:lpstr>PowerPoint Sunusu</vt:lpstr>
      <vt:lpstr>Python ile Uygulama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Validasyonu (Çapraz Doğrulama)</dc:title>
  <dc:creator>Alper</dc:creator>
  <cp:lastModifiedBy>Alper</cp:lastModifiedBy>
  <cp:revision>3</cp:revision>
  <dcterms:created xsi:type="dcterms:W3CDTF">2026-05-03T13:32:53Z</dcterms:created>
  <dcterms:modified xsi:type="dcterms:W3CDTF">2026-05-03T13:55:56Z</dcterms:modified>
</cp:coreProperties>
</file>