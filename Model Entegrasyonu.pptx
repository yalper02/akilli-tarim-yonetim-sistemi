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512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279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783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075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027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300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10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617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394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438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5190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824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2298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9301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7209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2305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2B119-BAEE-4C98-9491-E61B3523DF8F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68569B6-C14C-401F-90AE-3102799416C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156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8915399" cy="808892"/>
          </a:xfrm>
        </p:spPr>
        <p:txBody>
          <a:bodyPr>
            <a:normAutofit/>
          </a:bodyPr>
          <a:lstStyle/>
          <a:p>
            <a:r>
              <a:rPr lang="tr-TR" sz="3600">
                <a:solidFill>
                  <a:srgbClr val="FF0000"/>
                </a:solidFill>
              </a:rPr>
              <a:t>Model Entegrasyonu 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2589213" y="3420209"/>
            <a:ext cx="8915399" cy="2483454"/>
          </a:xfrm>
        </p:spPr>
        <p:txBody>
          <a:bodyPr/>
          <a:lstStyle/>
          <a:p>
            <a:r>
              <a:rPr lang="tr-TR" b="1"/>
              <a:t>🎯 Amaç</a:t>
            </a:r>
          </a:p>
          <a:p>
            <a:r>
              <a:rPr lang="tr-TR"/>
              <a:t>Eğitilmiş modeli:</a:t>
            </a:r>
          </a:p>
          <a:p>
            <a:r>
              <a:rPr lang="tr-TR"/>
              <a:t>Gerçek zamanlı sensör verisiyle çalıştırmak </a:t>
            </a:r>
          </a:p>
          <a:p>
            <a:r>
              <a:rPr lang="tr-TR"/>
              <a:t>Django backend’e bağlamak </a:t>
            </a:r>
          </a:p>
          <a:p>
            <a:r>
              <a:rPr lang="tr-TR"/>
              <a:t>Tahminleri kullanıcıya sunmak </a:t>
            </a:r>
          </a:p>
          <a:p>
            <a:r>
              <a:rPr lang="tr-TR"/>
              <a:t>Sürekli güncellenebilir hale getirmek 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53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409093" y="694592"/>
            <a:ext cx="9095520" cy="1210408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1. Entegrasyon Stratejisi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 flipV="1">
            <a:off x="4395866" y="137642462"/>
            <a:ext cx="7108746" cy="76826251"/>
          </a:xfrm>
        </p:spPr>
        <p:txBody>
          <a:bodyPr/>
          <a:lstStyle/>
          <a:p>
            <a:endParaRPr lang="tr-TR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09092" y="1807871"/>
            <a:ext cx="9782908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Temel Yaklaşım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Gömülü Model (Embedded)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doğrudan Django içinde çalışır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Basit</a:t>
            </a:r>
            <a:b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Küçük projeler için ideal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409091" y="3799509"/>
            <a:ext cx="978290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Ayrı Servis (Microservice) ⭐ (ÖNERİLEN)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ayrı bir API olarak çalışır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Ölçeklenebilir</a:t>
            </a:r>
            <a:b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Daha profesyonel</a:t>
            </a:r>
            <a:b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Yoğun ML işlemlerinde performanslı</a:t>
            </a:r>
          </a:p>
        </p:txBody>
      </p:sp>
    </p:spTree>
    <p:extLst>
      <p:ext uri="{BB962C8B-B14F-4D97-AF65-F5344CB8AC3E}">
        <p14:creationId xmlns:p14="http://schemas.microsoft.com/office/powerpoint/2010/main" val="90021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2. Sistem Entegrasyon Akışı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468315"/>
            <a:ext cx="8915400" cy="4510454"/>
          </a:xfrm>
        </p:spPr>
        <p:txBody>
          <a:bodyPr/>
          <a:lstStyle/>
          <a:p>
            <a:r>
              <a:rPr lang="tr-TR"/>
              <a:t>IoT → MQTT → Django → ML Model → Tahmin → Veritabanı </a:t>
            </a:r>
            <a:r>
              <a:rPr lang="tr-TR"/>
              <a:t>→ </a:t>
            </a:r>
            <a:r>
              <a:rPr lang="tr-TR" smtClean="0"/>
              <a:t>Dashboard</a:t>
            </a:r>
          </a:p>
          <a:p>
            <a:pPr marL="0" indent="0">
              <a:buNone/>
            </a:pPr>
            <a:r>
              <a:rPr lang="tr-TR" sz="3600">
                <a:solidFill>
                  <a:srgbClr val="FF0000"/>
                </a:solidFill>
              </a:rPr>
              <a:t>3. Modelin </a:t>
            </a:r>
            <a:r>
              <a:rPr lang="tr-TR" sz="3600">
                <a:solidFill>
                  <a:srgbClr val="FF0000"/>
                </a:solidFill>
              </a:rPr>
              <a:t>Sisteme </a:t>
            </a:r>
            <a:r>
              <a:rPr lang="tr-TR" sz="3600" smtClean="0">
                <a:solidFill>
                  <a:srgbClr val="FF0000"/>
                </a:solidFill>
              </a:rPr>
              <a:t>Eklenmesi</a:t>
            </a:r>
          </a:p>
          <a:p>
            <a:pPr marL="0" indent="0">
              <a:buNone/>
            </a:pPr>
            <a:r>
              <a:rPr lang="tr-TR" sz="2000"/>
              <a:t>Model </a:t>
            </a:r>
            <a:r>
              <a:rPr lang="tr-TR" sz="2000" smtClean="0"/>
              <a:t>Kaydetme</a:t>
            </a:r>
          </a:p>
          <a:p>
            <a:pPr marL="0" indent="0">
              <a:buNone/>
            </a:pPr>
            <a:r>
              <a:rPr lang="tr-TR" sz="1600">
                <a:solidFill>
                  <a:srgbClr val="F296EE"/>
                </a:solidFill>
              </a:rPr>
              <a:t>import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joblib</a:t>
            </a:r>
            <a:r>
              <a:rPr lang="tr-TR" sz="1600"/>
              <a:t/>
            </a:r>
            <a:br>
              <a:rPr lang="tr-TR" sz="1600"/>
            </a:br>
            <a:endParaRPr lang="tr-TR" sz="1600" smtClean="0"/>
          </a:p>
          <a:p>
            <a:pPr marL="0" indent="0">
              <a:buNone/>
            </a:pPr>
            <a:r>
              <a:rPr lang="tr-TR" sz="1600" smtClean="0">
                <a:solidFill>
                  <a:srgbClr val="7030A0"/>
                </a:solidFill>
              </a:rPr>
              <a:t>joblib</a:t>
            </a:r>
            <a:r>
              <a:rPr lang="tr-TR" sz="1600" smtClean="0">
                <a:solidFill>
                  <a:srgbClr val="F296EE"/>
                </a:solidFill>
              </a:rPr>
              <a:t>.</a:t>
            </a:r>
            <a:r>
              <a:rPr lang="tr-TR" sz="1600" smtClean="0"/>
              <a:t>dump(</a:t>
            </a:r>
            <a:r>
              <a:rPr lang="tr-TR" sz="1600" smtClean="0">
                <a:solidFill>
                  <a:srgbClr val="7030A0"/>
                </a:solidFill>
              </a:rPr>
              <a:t>model</a:t>
            </a:r>
            <a:r>
              <a:rPr lang="tr-TR" sz="1600"/>
              <a:t>, </a:t>
            </a:r>
            <a:r>
              <a:rPr lang="tr-TR" sz="1600">
                <a:solidFill>
                  <a:srgbClr val="00B050"/>
                </a:solidFill>
              </a:rPr>
              <a:t>"</a:t>
            </a:r>
            <a:r>
              <a:rPr lang="tr-TR" sz="1600">
                <a:solidFill>
                  <a:srgbClr val="00B050"/>
                </a:solidFill>
              </a:rPr>
              <a:t>model.pkl</a:t>
            </a:r>
            <a:r>
              <a:rPr lang="tr-TR" sz="1600" smtClean="0">
                <a:solidFill>
                  <a:srgbClr val="00B050"/>
                </a:solidFill>
              </a:rPr>
              <a:t>"</a:t>
            </a:r>
            <a:r>
              <a:rPr lang="tr-TR" sz="1600" smtClean="0"/>
              <a:t>)</a:t>
            </a:r>
          </a:p>
          <a:p>
            <a:pPr marL="0" indent="0">
              <a:buNone/>
            </a:pPr>
            <a:r>
              <a:rPr lang="tr-TR" sz="2000"/>
              <a:t>Model Yükleme (Django </a:t>
            </a:r>
            <a:r>
              <a:rPr lang="tr-TR" sz="2000"/>
              <a:t>içinde</a:t>
            </a:r>
            <a:r>
              <a:rPr lang="tr-TR" sz="2000" smtClean="0"/>
              <a:t>)</a:t>
            </a:r>
          </a:p>
          <a:p>
            <a:pPr marL="0" indent="0">
              <a:buNone/>
            </a:pPr>
            <a:r>
              <a:rPr lang="tr-TR" sz="1600">
                <a:solidFill>
                  <a:srgbClr val="7030A0"/>
                </a:solidFill>
              </a:rPr>
              <a:t>model</a:t>
            </a:r>
            <a:r>
              <a:rPr lang="tr-TR" sz="1600"/>
              <a:t> </a:t>
            </a:r>
            <a:r>
              <a:rPr lang="tr-TR" sz="1600">
                <a:solidFill>
                  <a:srgbClr val="F296EE"/>
                </a:solidFill>
              </a:rPr>
              <a:t>=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joblib</a:t>
            </a:r>
            <a:r>
              <a:rPr lang="tr-TR" sz="1600">
                <a:solidFill>
                  <a:srgbClr val="F296EE"/>
                </a:solidFill>
              </a:rPr>
              <a:t>.</a:t>
            </a:r>
            <a:r>
              <a:rPr lang="tr-TR" sz="1600"/>
              <a:t>load(</a:t>
            </a:r>
            <a:r>
              <a:rPr lang="tr-TR" sz="1600">
                <a:solidFill>
                  <a:srgbClr val="00B050"/>
                </a:solidFill>
              </a:rPr>
              <a:t>"</a:t>
            </a:r>
            <a:r>
              <a:rPr lang="tr-TR" sz="1600">
                <a:solidFill>
                  <a:srgbClr val="00B050"/>
                </a:solidFill>
              </a:rPr>
              <a:t>model.pkl</a:t>
            </a:r>
            <a:r>
              <a:rPr lang="tr-TR" sz="1600" smtClean="0">
                <a:solidFill>
                  <a:srgbClr val="00B050"/>
                </a:solidFill>
              </a:rPr>
              <a:t>"</a:t>
            </a:r>
            <a:r>
              <a:rPr lang="tr-TR" sz="1600" smtClean="0"/>
              <a:t>)</a:t>
            </a:r>
          </a:p>
          <a:p>
            <a:pPr marL="0" indent="0">
              <a:buNone/>
            </a:pPr>
            <a:endParaRPr lang="tr-TR" sz="1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44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4. Tahmin Servisi (Prediction Layer)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283677"/>
            <a:ext cx="8915400" cy="4627545"/>
          </a:xfrm>
        </p:spPr>
        <p:txBody>
          <a:bodyPr>
            <a:normAutofit/>
          </a:bodyPr>
          <a:lstStyle/>
          <a:p>
            <a:r>
              <a:rPr lang="tr-TR" sz="2000"/>
              <a:t>Django </a:t>
            </a:r>
            <a:r>
              <a:rPr lang="tr-TR" sz="2000" smtClean="0"/>
              <a:t>Service</a:t>
            </a:r>
          </a:p>
          <a:p>
            <a:pPr marL="0" indent="0">
              <a:buNone/>
            </a:pPr>
            <a:r>
              <a:rPr lang="en-US" sz="2000">
                <a:solidFill>
                  <a:srgbClr val="F296EE"/>
                </a:solidFill>
              </a:rPr>
              <a:t>def</a:t>
            </a:r>
            <a:r>
              <a:rPr lang="en-US" sz="2000"/>
              <a:t> predict_irrigation(data):</a:t>
            </a:r>
            <a:r>
              <a:rPr lang="en-US" sz="2000"/>
              <a:t/>
            </a:r>
            <a:br>
              <a:rPr lang="en-US" sz="2000"/>
            </a:br>
            <a:r>
              <a:rPr lang="tr-TR" sz="2000" smtClean="0"/>
              <a:t>	</a:t>
            </a:r>
            <a:r>
              <a:rPr lang="en-US" sz="2000" smtClean="0"/>
              <a:t>features </a:t>
            </a:r>
            <a:r>
              <a:rPr lang="en-US" sz="2000">
                <a:solidFill>
                  <a:srgbClr val="F296EE"/>
                </a:solidFill>
              </a:rPr>
              <a:t>=</a:t>
            </a:r>
            <a:r>
              <a:rPr lang="en-US" sz="2000"/>
              <a:t> preprocess(data)</a:t>
            </a:r>
            <a:r>
              <a:rPr lang="en-US" sz="2000"/>
              <a:t/>
            </a:r>
            <a:br>
              <a:rPr lang="en-US" sz="2000"/>
            </a:br>
            <a:r>
              <a:rPr lang="tr-TR" sz="2000" smtClean="0"/>
              <a:t>	</a:t>
            </a:r>
            <a:r>
              <a:rPr lang="en-US" sz="2000" smtClean="0"/>
              <a:t>prediction </a:t>
            </a:r>
            <a:r>
              <a:rPr lang="en-US" sz="2000">
                <a:solidFill>
                  <a:srgbClr val="F296EE"/>
                </a:solidFill>
              </a:rPr>
              <a:t>=</a:t>
            </a:r>
            <a:r>
              <a:rPr lang="en-US" sz="2000"/>
              <a:t> model.predict([features])</a:t>
            </a:r>
            <a:r>
              <a:rPr lang="en-US" sz="2000"/>
              <a:t/>
            </a:r>
            <a:br>
              <a:rPr lang="en-US" sz="2000"/>
            </a:br>
            <a:r>
              <a:rPr lang="tr-TR" sz="2000" smtClean="0"/>
              <a:t>	</a:t>
            </a:r>
            <a:r>
              <a:rPr lang="en-US" sz="2000" smtClean="0">
                <a:solidFill>
                  <a:srgbClr val="F296EE"/>
                </a:solidFill>
              </a:rPr>
              <a:t>return</a:t>
            </a:r>
            <a:r>
              <a:rPr lang="en-US" sz="2000" smtClean="0"/>
              <a:t> prediction</a:t>
            </a:r>
            <a:endParaRPr lang="tr-TR" sz="2000" smtClean="0"/>
          </a:p>
          <a:p>
            <a:r>
              <a:rPr lang="tr-TR" sz="2000"/>
              <a:t>API </a:t>
            </a:r>
            <a:r>
              <a:rPr lang="tr-TR" sz="2000" smtClean="0"/>
              <a:t>Endpoint</a:t>
            </a:r>
          </a:p>
          <a:p>
            <a:pPr marL="0" indent="0">
              <a:buNone/>
            </a:pPr>
            <a:r>
              <a:rPr lang="en-US" sz="2000">
                <a:solidFill>
                  <a:srgbClr val="F296EE"/>
                </a:solidFill>
              </a:rPr>
              <a:t>from</a:t>
            </a:r>
            <a:r>
              <a:rPr lang="en-US" sz="2000"/>
              <a:t> </a:t>
            </a:r>
            <a:r>
              <a:rPr lang="en-US" sz="2000">
                <a:solidFill>
                  <a:srgbClr val="7030A0"/>
                </a:solidFill>
              </a:rPr>
              <a:t>rest_framework.decorators</a:t>
            </a:r>
            <a:r>
              <a:rPr lang="en-US" sz="2000"/>
              <a:t> </a:t>
            </a:r>
            <a:r>
              <a:rPr lang="en-US" sz="2000">
                <a:solidFill>
                  <a:srgbClr val="F296EE"/>
                </a:solidFill>
              </a:rPr>
              <a:t>import</a:t>
            </a:r>
            <a:r>
              <a:rPr lang="en-US" sz="2000"/>
              <a:t> </a:t>
            </a:r>
            <a:r>
              <a:rPr lang="en-US" sz="2000">
                <a:solidFill>
                  <a:srgbClr val="7030A0"/>
                </a:solidFill>
              </a:rPr>
              <a:t>api_view</a:t>
            </a:r>
            <a:br>
              <a:rPr lang="en-US" sz="2000">
                <a:solidFill>
                  <a:srgbClr val="7030A0"/>
                </a:solidFill>
              </a:rPr>
            </a:br>
            <a:r>
              <a:rPr lang="en-US" sz="2000"/>
              <a:t/>
            </a:r>
            <a:br>
              <a:rPr lang="en-US" sz="2000"/>
            </a:br>
            <a:r>
              <a:rPr lang="en-US" sz="2000">
                <a:solidFill>
                  <a:srgbClr val="00B0F0"/>
                </a:solidFill>
              </a:rPr>
              <a:t>@</a:t>
            </a:r>
            <a:r>
              <a:rPr lang="en-US" sz="2000">
                <a:solidFill>
                  <a:srgbClr val="7030A0"/>
                </a:solidFill>
              </a:rPr>
              <a:t>api_view</a:t>
            </a:r>
            <a:r>
              <a:rPr lang="en-US" sz="2000"/>
              <a:t>([</a:t>
            </a:r>
            <a:r>
              <a:rPr lang="en-US" sz="2000">
                <a:solidFill>
                  <a:srgbClr val="00B050"/>
                </a:solidFill>
              </a:rPr>
              <a:t>'POST'</a:t>
            </a:r>
            <a:r>
              <a:rPr lang="en-US" sz="2000"/>
              <a:t>])</a:t>
            </a:r>
            <a:br>
              <a:rPr lang="en-US" sz="2000"/>
            </a:br>
            <a:r>
              <a:rPr lang="en-US" sz="2000">
                <a:solidFill>
                  <a:srgbClr val="F296EE"/>
                </a:solidFill>
              </a:rPr>
              <a:t>def</a:t>
            </a:r>
            <a:r>
              <a:rPr lang="en-US" sz="2000"/>
              <a:t> </a:t>
            </a:r>
            <a:r>
              <a:rPr lang="en-US" sz="2000">
                <a:solidFill>
                  <a:srgbClr val="7030A0"/>
                </a:solidFill>
              </a:rPr>
              <a:t>predict</a:t>
            </a:r>
            <a:r>
              <a:rPr lang="en-US" sz="2000"/>
              <a:t>(</a:t>
            </a:r>
            <a:r>
              <a:rPr lang="en-US" sz="2000">
                <a:solidFill>
                  <a:srgbClr val="7030A0"/>
                </a:solidFill>
              </a:rPr>
              <a:t>request</a:t>
            </a:r>
            <a:r>
              <a:rPr lang="en-US" sz="2000"/>
              <a:t>):</a:t>
            </a:r>
            <a:r>
              <a:rPr lang="en-US" sz="2000"/>
              <a:t/>
            </a:r>
            <a:br>
              <a:rPr lang="en-US" sz="2000"/>
            </a:br>
            <a:r>
              <a:rPr lang="tr-TR" sz="2000" smtClean="0"/>
              <a:t>	</a:t>
            </a:r>
            <a:r>
              <a:rPr lang="en-US" sz="2000" smtClean="0">
                <a:solidFill>
                  <a:srgbClr val="7030A0"/>
                </a:solidFill>
              </a:rPr>
              <a:t>data</a:t>
            </a:r>
            <a:r>
              <a:rPr lang="en-US" sz="2000" smtClean="0"/>
              <a:t> </a:t>
            </a:r>
            <a:r>
              <a:rPr lang="en-US" sz="2000">
                <a:solidFill>
                  <a:srgbClr val="F296EE"/>
                </a:solidFill>
              </a:rPr>
              <a:t>=</a:t>
            </a:r>
            <a:r>
              <a:rPr lang="en-US" sz="2000"/>
              <a:t> </a:t>
            </a:r>
            <a:r>
              <a:rPr lang="en-US" sz="2000">
                <a:solidFill>
                  <a:srgbClr val="7030A0"/>
                </a:solidFill>
              </a:rPr>
              <a:t>request</a:t>
            </a:r>
            <a:r>
              <a:rPr lang="en-US" sz="2000">
                <a:solidFill>
                  <a:srgbClr val="F296EE"/>
                </a:solidFill>
              </a:rPr>
              <a:t>.</a:t>
            </a:r>
            <a:r>
              <a:rPr lang="en-US" sz="2000"/>
              <a:t>data</a:t>
            </a:r>
            <a:r>
              <a:rPr lang="en-US" sz="2000"/>
              <a:t/>
            </a:r>
            <a:br>
              <a:rPr lang="en-US" sz="2000"/>
            </a:br>
            <a:r>
              <a:rPr lang="tr-TR" sz="2000" smtClean="0"/>
              <a:t>	</a:t>
            </a:r>
            <a:r>
              <a:rPr lang="en-US" sz="2000" smtClean="0">
                <a:solidFill>
                  <a:srgbClr val="7030A0"/>
                </a:solidFill>
              </a:rPr>
              <a:t>result</a:t>
            </a:r>
            <a:r>
              <a:rPr lang="en-US" sz="2000" smtClean="0"/>
              <a:t> </a:t>
            </a:r>
            <a:r>
              <a:rPr lang="en-US" sz="2000">
                <a:solidFill>
                  <a:srgbClr val="F296EE"/>
                </a:solidFill>
              </a:rPr>
              <a:t>=</a:t>
            </a:r>
            <a:r>
              <a:rPr lang="en-US" sz="2000"/>
              <a:t> </a:t>
            </a:r>
            <a:r>
              <a:rPr lang="en-US" sz="2000">
                <a:solidFill>
                  <a:srgbClr val="7030A0"/>
                </a:solidFill>
              </a:rPr>
              <a:t>predict_irrigation</a:t>
            </a:r>
            <a:r>
              <a:rPr lang="en-US" sz="2000"/>
              <a:t>(</a:t>
            </a:r>
            <a:r>
              <a:rPr lang="en-US" sz="2000">
                <a:solidFill>
                  <a:srgbClr val="7030A0"/>
                </a:solidFill>
              </a:rPr>
              <a:t>data</a:t>
            </a:r>
            <a:r>
              <a:rPr lang="en-US" sz="2000"/>
              <a:t>)</a:t>
            </a:r>
            <a:r>
              <a:rPr lang="en-US" sz="2000"/>
              <a:t/>
            </a:r>
            <a:br>
              <a:rPr lang="en-US" sz="2000"/>
            </a:br>
            <a:r>
              <a:rPr lang="tr-TR" sz="2000" smtClean="0"/>
              <a:t>	</a:t>
            </a:r>
            <a:r>
              <a:rPr lang="en-US" sz="2000" smtClean="0">
                <a:solidFill>
                  <a:srgbClr val="F296EE"/>
                </a:solidFill>
              </a:rPr>
              <a:t>return</a:t>
            </a:r>
            <a:r>
              <a:rPr lang="en-US" sz="2000" smtClean="0"/>
              <a:t> </a:t>
            </a:r>
            <a:r>
              <a:rPr lang="en-US" sz="2000">
                <a:solidFill>
                  <a:srgbClr val="7030A0"/>
                </a:solidFill>
              </a:rPr>
              <a:t>Response</a:t>
            </a:r>
            <a:r>
              <a:rPr lang="en-US" sz="2000"/>
              <a:t>({</a:t>
            </a:r>
            <a:r>
              <a:rPr lang="en-US" sz="2000">
                <a:solidFill>
                  <a:srgbClr val="00B050"/>
                </a:solidFill>
              </a:rPr>
              <a:t>"prediction"</a:t>
            </a:r>
            <a:r>
              <a:rPr lang="en-US" sz="2000"/>
              <a:t>: </a:t>
            </a:r>
            <a:r>
              <a:rPr lang="en-US" sz="2000">
                <a:solidFill>
                  <a:srgbClr val="7030A0"/>
                </a:solidFill>
              </a:rPr>
              <a:t>result</a:t>
            </a:r>
            <a:r>
              <a:rPr lang="en-US" sz="2000"/>
              <a:t>})</a:t>
            </a:r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74958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5. Gerçek Zamanlı Entegrasyon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664069" y="1330210"/>
            <a:ext cx="8695593" cy="4703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 ile otomatik tetikleme: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600">
                <a:solidFill>
                  <a:srgbClr val="F296EE"/>
                </a:solidFill>
              </a:rPr>
              <a:t>def</a:t>
            </a:r>
            <a:r>
              <a:rPr lang="en-US" sz="1600"/>
              <a:t> </a:t>
            </a:r>
            <a:r>
              <a:rPr lang="en-US" sz="1600">
                <a:solidFill>
                  <a:srgbClr val="7030A0"/>
                </a:solidFill>
              </a:rPr>
              <a:t>on_message</a:t>
            </a:r>
            <a:r>
              <a:rPr lang="en-US" sz="1600"/>
              <a:t>(</a:t>
            </a:r>
            <a:r>
              <a:rPr lang="en-US" sz="1600">
                <a:solidFill>
                  <a:srgbClr val="7030A0"/>
                </a:solidFill>
              </a:rPr>
              <a:t>client</a:t>
            </a:r>
            <a:r>
              <a:rPr lang="en-US" sz="1600"/>
              <a:t>, </a:t>
            </a:r>
            <a:r>
              <a:rPr lang="en-US" sz="1600">
                <a:solidFill>
                  <a:srgbClr val="7030A0"/>
                </a:solidFill>
              </a:rPr>
              <a:t>userdata</a:t>
            </a:r>
            <a:r>
              <a:rPr lang="en-US" sz="1600"/>
              <a:t>, </a:t>
            </a:r>
            <a:r>
              <a:rPr lang="en-US" sz="1600">
                <a:solidFill>
                  <a:srgbClr val="7030A0"/>
                </a:solidFill>
              </a:rPr>
              <a:t>msg</a:t>
            </a:r>
            <a:r>
              <a:rPr lang="en-US" sz="1600"/>
              <a:t>):</a:t>
            </a:r>
            <a:r>
              <a:rPr lang="en-US" sz="1600"/>
              <a:t/>
            </a:r>
            <a:br>
              <a:rPr lang="en-US" sz="1600"/>
            </a:br>
            <a:r>
              <a:rPr lang="tr-TR" sz="1600" smtClean="0"/>
              <a:t>	</a:t>
            </a:r>
            <a:r>
              <a:rPr lang="en-US" sz="1600" smtClean="0">
                <a:solidFill>
                  <a:srgbClr val="7030A0"/>
                </a:solidFill>
              </a:rPr>
              <a:t>data</a:t>
            </a:r>
            <a:r>
              <a:rPr lang="en-US" sz="1600" smtClean="0"/>
              <a:t> </a:t>
            </a:r>
            <a:r>
              <a:rPr lang="en-US" sz="1600">
                <a:solidFill>
                  <a:srgbClr val="F296EE"/>
                </a:solidFill>
              </a:rPr>
              <a:t>=</a:t>
            </a:r>
            <a:r>
              <a:rPr lang="en-US" sz="1600"/>
              <a:t> </a:t>
            </a:r>
            <a:r>
              <a:rPr lang="en-US" sz="1600">
                <a:solidFill>
                  <a:srgbClr val="7030A0"/>
                </a:solidFill>
              </a:rPr>
              <a:t>parse</a:t>
            </a:r>
            <a:r>
              <a:rPr lang="en-US" sz="1600"/>
              <a:t>(</a:t>
            </a:r>
            <a:r>
              <a:rPr lang="en-US" sz="1600">
                <a:solidFill>
                  <a:srgbClr val="7030A0"/>
                </a:solidFill>
              </a:rPr>
              <a:t>msg</a:t>
            </a:r>
            <a:r>
              <a:rPr lang="en-US" sz="1600"/>
              <a:t>)</a:t>
            </a:r>
            <a:r>
              <a:rPr lang="en-US" sz="1600"/>
              <a:t/>
            </a:r>
            <a:br>
              <a:rPr lang="en-US" sz="1600"/>
            </a:br>
            <a:r>
              <a:rPr lang="tr-TR" sz="1600" smtClean="0"/>
              <a:t>	</a:t>
            </a:r>
            <a:r>
              <a:rPr lang="en-US" sz="1600" smtClean="0">
                <a:solidFill>
                  <a:srgbClr val="7030A0"/>
                </a:solidFill>
              </a:rPr>
              <a:t>prediction</a:t>
            </a:r>
            <a:r>
              <a:rPr lang="en-US" sz="1600" smtClean="0"/>
              <a:t> </a:t>
            </a:r>
            <a:r>
              <a:rPr lang="en-US" sz="1600">
                <a:solidFill>
                  <a:srgbClr val="F296EE"/>
                </a:solidFill>
              </a:rPr>
              <a:t>=</a:t>
            </a:r>
            <a:r>
              <a:rPr lang="en-US" sz="1600"/>
              <a:t> </a:t>
            </a:r>
            <a:r>
              <a:rPr lang="en-US" sz="1600">
                <a:solidFill>
                  <a:srgbClr val="7030A0"/>
                </a:solidFill>
              </a:rPr>
              <a:t>predict_irrigation</a:t>
            </a:r>
            <a:r>
              <a:rPr lang="en-US" sz="1600"/>
              <a:t>(</a:t>
            </a:r>
            <a:r>
              <a:rPr lang="en-US" sz="1600">
                <a:solidFill>
                  <a:srgbClr val="7030A0"/>
                </a:solidFill>
              </a:rPr>
              <a:t>data</a:t>
            </a:r>
            <a:r>
              <a:rPr lang="en-US" sz="1600"/>
              <a:t>)</a:t>
            </a:r>
            <a:r>
              <a:rPr lang="en-US" sz="1600"/>
              <a:t/>
            </a:r>
            <a:br>
              <a:rPr lang="en-US" sz="1600"/>
            </a:br>
            <a:r>
              <a:rPr lang="tr-TR" sz="1600" smtClean="0"/>
              <a:t>	</a:t>
            </a:r>
            <a:r>
              <a:rPr lang="en-US" sz="1600" smtClean="0">
                <a:solidFill>
                  <a:srgbClr val="7030A0"/>
                </a:solidFill>
              </a:rPr>
              <a:t>save_result</a:t>
            </a:r>
            <a:r>
              <a:rPr lang="en-US" sz="1600" smtClean="0"/>
              <a:t>(</a:t>
            </a:r>
            <a:r>
              <a:rPr lang="en-US" sz="1600" smtClean="0">
                <a:solidFill>
                  <a:srgbClr val="7030A0"/>
                </a:solidFill>
              </a:rPr>
              <a:t>prediction</a:t>
            </a:r>
            <a:r>
              <a:rPr lang="en-US" sz="1600" smtClean="0"/>
              <a:t>)</a:t>
            </a:r>
            <a:endParaRPr lang="tr-TR" sz="160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tr-TR" altLang="tr-T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tr-TR"/>
              <a:t>👉 Sensör verisi gelir gelmez </a:t>
            </a:r>
            <a:r>
              <a:rPr lang="tr-TR"/>
              <a:t>model </a:t>
            </a:r>
            <a:r>
              <a:rPr lang="tr-TR" smtClean="0"/>
              <a:t>çalışır</a:t>
            </a:r>
          </a:p>
          <a:p>
            <a:pPr marL="0" indent="0">
              <a:buNone/>
            </a:pPr>
            <a:r>
              <a:rPr lang="tr-TR" sz="3200">
                <a:solidFill>
                  <a:srgbClr val="FF0000"/>
                </a:solidFill>
              </a:rPr>
              <a:t>6. </a:t>
            </a:r>
            <a:r>
              <a:rPr lang="tr-TR" sz="3200">
                <a:solidFill>
                  <a:srgbClr val="FF0000"/>
                </a:solidFill>
              </a:rPr>
              <a:t>Preprocessing </a:t>
            </a:r>
            <a:r>
              <a:rPr lang="tr-TR" sz="3200" smtClean="0">
                <a:solidFill>
                  <a:srgbClr val="FF0000"/>
                </a:solidFill>
              </a:rPr>
              <a:t>Pipeline</a:t>
            </a:r>
            <a:endParaRPr lang="tr-TR" sz="32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r-TR"/>
              <a:t>Modelle aynı preprocessing kullanılmalı:</a:t>
            </a:r>
          </a:p>
          <a:p>
            <a:r>
              <a:rPr lang="tr-TR"/>
              <a:t>Normalizasyon </a:t>
            </a:r>
          </a:p>
          <a:p>
            <a:r>
              <a:rPr lang="tr-TR"/>
              <a:t>Feature engineering </a:t>
            </a:r>
          </a:p>
          <a:p>
            <a:r>
              <a:rPr lang="tr-TR"/>
              <a:t>Encoding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tr-TR" altLang="tr-TR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56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193558" y="844062"/>
            <a:ext cx="8915400" cy="5600700"/>
          </a:xfrm>
        </p:spPr>
        <p:txBody>
          <a:bodyPr>
            <a:normAutofit fontScale="77500" lnSpcReduction="20000"/>
          </a:bodyPr>
          <a:lstStyle/>
          <a:p>
            <a:r>
              <a:rPr lang="tr-TR" sz="2000"/>
              <a:t>Pipeline </a:t>
            </a:r>
            <a:r>
              <a:rPr lang="tr-TR" sz="2000"/>
              <a:t>kullanımı</a:t>
            </a:r>
            <a:r>
              <a:rPr lang="tr-TR" sz="2000" smtClean="0"/>
              <a:t>:</a:t>
            </a:r>
          </a:p>
          <a:p>
            <a:pPr marL="0" indent="0">
              <a:buNone/>
            </a:pPr>
            <a:r>
              <a:rPr lang="tr-TR" sz="1600">
                <a:solidFill>
                  <a:srgbClr val="F296EE"/>
                </a:solidFill>
              </a:rPr>
              <a:t>from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sklearn</a:t>
            </a:r>
            <a:r>
              <a:rPr lang="tr-TR" sz="1600">
                <a:solidFill>
                  <a:srgbClr val="F296EE"/>
                </a:solidFill>
              </a:rPr>
              <a:t>.</a:t>
            </a:r>
            <a:r>
              <a:rPr lang="tr-TR" sz="1600">
                <a:solidFill>
                  <a:srgbClr val="7030A0"/>
                </a:solidFill>
              </a:rPr>
              <a:t>pipeline</a:t>
            </a:r>
            <a:r>
              <a:rPr lang="tr-TR" sz="1600"/>
              <a:t> </a:t>
            </a:r>
            <a:r>
              <a:rPr lang="tr-TR" sz="1600">
                <a:solidFill>
                  <a:srgbClr val="F296EE"/>
                </a:solidFill>
              </a:rPr>
              <a:t>import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Pipeline</a:t>
            </a:r>
            <a:br>
              <a:rPr lang="tr-TR" sz="1600">
                <a:solidFill>
                  <a:srgbClr val="7030A0"/>
                </a:solidFill>
              </a:rPr>
            </a:br>
            <a:r>
              <a:rPr lang="tr-TR" sz="1600"/>
              <a:t/>
            </a:r>
            <a:br>
              <a:rPr lang="tr-TR" sz="1600"/>
            </a:br>
            <a:r>
              <a:rPr lang="tr-TR" sz="1600">
                <a:solidFill>
                  <a:srgbClr val="7030A0"/>
                </a:solidFill>
              </a:rPr>
              <a:t>pipeline </a:t>
            </a:r>
            <a:r>
              <a:rPr lang="tr-TR" sz="1600">
                <a:solidFill>
                  <a:srgbClr val="F296EE"/>
                </a:solidFill>
              </a:rPr>
              <a:t>=</a:t>
            </a:r>
            <a:r>
              <a:rPr lang="tr-TR" sz="1600">
                <a:solidFill>
                  <a:srgbClr val="7030A0"/>
                </a:solidFill>
              </a:rPr>
              <a:t> Pipeline</a:t>
            </a:r>
            <a:r>
              <a:rPr lang="tr-TR" sz="1600"/>
              <a:t>([</a:t>
            </a:r>
            <a:r>
              <a:rPr lang="tr-TR" sz="1600"/>
              <a:t/>
            </a:r>
            <a:br>
              <a:rPr lang="tr-TR" sz="1600"/>
            </a:br>
            <a:r>
              <a:rPr lang="tr-TR" sz="1600" smtClean="0"/>
              <a:t>	(</a:t>
            </a:r>
            <a:r>
              <a:rPr lang="tr-TR" sz="1600">
                <a:solidFill>
                  <a:srgbClr val="00B050"/>
                </a:solidFill>
              </a:rPr>
              <a:t>'scaler'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scaler</a:t>
            </a:r>
            <a:r>
              <a:rPr lang="tr-TR" sz="1600"/>
              <a:t>),</a:t>
            </a:r>
            <a:r>
              <a:rPr lang="tr-TR" sz="1600"/>
              <a:t/>
            </a:r>
            <a:br>
              <a:rPr lang="tr-TR" sz="1600"/>
            </a:br>
            <a:r>
              <a:rPr lang="tr-TR" sz="1600" smtClean="0"/>
              <a:t>	(</a:t>
            </a:r>
            <a:r>
              <a:rPr lang="tr-TR" sz="1600">
                <a:solidFill>
                  <a:srgbClr val="00B050"/>
                </a:solidFill>
              </a:rPr>
              <a:t>'model'</a:t>
            </a:r>
            <a:r>
              <a:rPr lang="tr-TR" sz="1600"/>
              <a:t>, </a:t>
            </a:r>
            <a:r>
              <a:rPr lang="tr-TR" sz="1600">
                <a:solidFill>
                  <a:srgbClr val="7030A0"/>
                </a:solidFill>
              </a:rPr>
              <a:t>model</a:t>
            </a:r>
            <a:r>
              <a:rPr lang="tr-TR" sz="1600"/>
              <a:t>)</a:t>
            </a:r>
            <a:r>
              <a:rPr lang="tr-TR" sz="1600"/>
              <a:t/>
            </a:r>
            <a:br>
              <a:rPr lang="tr-TR" sz="1600"/>
            </a:br>
            <a:r>
              <a:rPr lang="tr-TR" sz="1600" smtClean="0"/>
              <a:t>])</a:t>
            </a:r>
          </a:p>
          <a:p>
            <a:pPr marL="0" indent="0">
              <a:buNone/>
            </a:pPr>
            <a:r>
              <a:rPr lang="tr-TR"/>
              <a:t>👉 Eğitim ve tahmin aynı olur (çok </a:t>
            </a:r>
            <a:r>
              <a:rPr lang="tr-TR"/>
              <a:t>önemli</a:t>
            </a:r>
            <a:r>
              <a:rPr lang="tr-TR" smtClean="0"/>
              <a:t>)</a:t>
            </a:r>
          </a:p>
          <a:p>
            <a:pPr marL="0" indent="0">
              <a:buNone/>
            </a:pPr>
            <a:r>
              <a:rPr lang="tr-TR" sz="4600">
                <a:solidFill>
                  <a:srgbClr val="FF0000"/>
                </a:solidFill>
              </a:rPr>
              <a:t>7. Veritabanı Entegrasyonu</a:t>
            </a:r>
          </a:p>
          <a:p>
            <a:pPr marL="0" indent="0">
              <a:buNone/>
            </a:pPr>
            <a:r>
              <a:rPr lang="tr-TR" b="1"/>
              <a:t>PostgreSQL tabloları:</a:t>
            </a:r>
          </a:p>
          <a:p>
            <a:pPr marL="0" indent="0">
              <a:buNone/>
            </a:pPr>
            <a:r>
              <a:rPr lang="tr-TR" b="1"/>
              <a:t>sensor_data</a:t>
            </a:r>
          </a:p>
          <a:p>
            <a:r>
              <a:rPr lang="tr-TR"/>
              <a:t>id </a:t>
            </a:r>
          </a:p>
          <a:p>
            <a:r>
              <a:rPr lang="tr-TR"/>
              <a:t>moisture </a:t>
            </a:r>
          </a:p>
          <a:p>
            <a:r>
              <a:rPr lang="tr-TR"/>
              <a:t>temperature </a:t>
            </a:r>
          </a:p>
          <a:p>
            <a:r>
              <a:rPr lang="tr-TR"/>
              <a:t>timestamp </a:t>
            </a:r>
          </a:p>
          <a:p>
            <a:pPr marL="0" indent="0">
              <a:buNone/>
            </a:pPr>
            <a:r>
              <a:rPr lang="tr-TR" b="1"/>
              <a:t>predictions</a:t>
            </a:r>
          </a:p>
          <a:p>
            <a:r>
              <a:rPr lang="tr-TR"/>
              <a:t>id </a:t>
            </a:r>
          </a:p>
          <a:p>
            <a:r>
              <a:rPr lang="tr-TR"/>
              <a:t>sensor_id </a:t>
            </a:r>
          </a:p>
          <a:p>
            <a:r>
              <a:rPr lang="tr-TR"/>
              <a:t>prediction </a:t>
            </a:r>
          </a:p>
          <a:p>
            <a:r>
              <a:rPr lang="tr-TR"/>
              <a:t>created_at</a:t>
            </a:r>
          </a:p>
          <a:p>
            <a:pPr marL="0" indent="0">
              <a:buNone/>
            </a:pPr>
            <a:endParaRPr lang="tr-TR" smtClean="0"/>
          </a:p>
          <a:p>
            <a:pPr marL="0" indent="0">
              <a:buNone/>
            </a:pPr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186407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65075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8. Sonuçların Kullanımı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424355"/>
            <a:ext cx="8915400" cy="5284177"/>
          </a:xfrm>
        </p:spPr>
        <p:txBody>
          <a:bodyPr/>
          <a:lstStyle/>
          <a:p>
            <a:pPr marL="0" indent="0">
              <a:buNone/>
            </a:pPr>
            <a:r>
              <a:rPr lang="tr-TR" b="1"/>
              <a:t>Dashboard’da:</a:t>
            </a:r>
          </a:p>
          <a:p>
            <a:r>
              <a:rPr lang="tr-TR"/>
              <a:t>“Sulama gerekli” uyarısı </a:t>
            </a:r>
          </a:p>
          <a:p>
            <a:r>
              <a:rPr lang="tr-TR"/>
              <a:t>Grafikler </a:t>
            </a:r>
          </a:p>
          <a:p>
            <a:r>
              <a:rPr lang="tr-TR"/>
              <a:t>Tahmin </a:t>
            </a:r>
            <a:r>
              <a:rPr lang="tr-TR" smtClean="0"/>
              <a:t>geçmişi</a:t>
            </a:r>
          </a:p>
          <a:p>
            <a:pPr marL="0" indent="0">
              <a:buNone/>
            </a:pPr>
            <a:endParaRPr lang="tr-TR" sz="360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r-TR" sz="3600" smtClean="0">
                <a:solidFill>
                  <a:srgbClr val="FF0000"/>
                </a:solidFill>
              </a:rPr>
              <a:t>9</a:t>
            </a:r>
            <a:r>
              <a:rPr lang="tr-TR" sz="3600">
                <a:solidFill>
                  <a:srgbClr val="FF0000"/>
                </a:solidFill>
              </a:rPr>
              <a:t>. Model Güncelleme (Retraining)</a:t>
            </a:r>
          </a:p>
          <a:p>
            <a:pPr marL="0" indent="0">
              <a:buNone/>
            </a:pPr>
            <a:r>
              <a:rPr lang="tr-TR" b="1"/>
              <a:t>Strateji:</a:t>
            </a:r>
          </a:p>
          <a:p>
            <a:r>
              <a:rPr lang="tr-TR"/>
              <a:t>Haftalık / aylık yeniden eğitim </a:t>
            </a:r>
          </a:p>
          <a:p>
            <a:r>
              <a:rPr lang="tr-TR"/>
              <a:t>Yeni verilerle model </a:t>
            </a:r>
            <a:r>
              <a:rPr lang="tr-TR"/>
              <a:t>güncelleme </a:t>
            </a:r>
            <a:endParaRPr lang="tr-TR" smtClean="0"/>
          </a:p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306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659934" y="844062"/>
            <a:ext cx="8844677" cy="5067160"/>
          </a:xfrm>
        </p:spPr>
        <p:txBody>
          <a:bodyPr/>
          <a:lstStyle/>
          <a:p>
            <a:pPr marL="0" indent="0">
              <a:buNone/>
            </a:pPr>
            <a:r>
              <a:rPr lang="tr-TR" smtClean="0"/>
              <a:t>Otomasyon:</a:t>
            </a:r>
          </a:p>
          <a:p>
            <a:r>
              <a:rPr lang="tr-TR" smtClean="0"/>
              <a:t>Celery + cron job</a:t>
            </a:r>
          </a:p>
          <a:p>
            <a:pPr marL="0" indent="0">
              <a:buNone/>
            </a:pPr>
            <a:r>
              <a:rPr lang="tr-TR" sz="1600">
                <a:solidFill>
                  <a:srgbClr val="00B0F0"/>
                </a:solidFill>
              </a:rPr>
              <a:t>@</a:t>
            </a:r>
            <a:r>
              <a:rPr lang="tr-TR" sz="1600">
                <a:solidFill>
                  <a:srgbClr val="7030A0"/>
                </a:solidFill>
              </a:rPr>
              <a:t>shared_task</a:t>
            </a:r>
            <a:r>
              <a:rPr lang="tr-TR" sz="1600"/>
              <a:t/>
            </a:r>
            <a:br>
              <a:rPr lang="tr-TR" sz="1600"/>
            </a:br>
            <a:r>
              <a:rPr lang="tr-TR" sz="1600">
                <a:solidFill>
                  <a:srgbClr val="F296EE"/>
                </a:solidFill>
              </a:rPr>
              <a:t>def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retrain_model</a:t>
            </a:r>
            <a:r>
              <a:rPr lang="tr-TR" sz="1600"/>
              <a:t>():</a:t>
            </a:r>
            <a:r>
              <a:rPr lang="tr-TR" sz="1600"/>
              <a:t/>
            </a:r>
            <a:br>
              <a:rPr lang="tr-TR" sz="1600"/>
            </a:br>
            <a:r>
              <a:rPr lang="tr-TR" sz="1600" smtClean="0"/>
              <a:t>       </a:t>
            </a:r>
            <a:r>
              <a:rPr lang="tr-TR" sz="1600" smtClean="0">
                <a:solidFill>
                  <a:srgbClr val="7030A0"/>
                </a:solidFill>
              </a:rPr>
              <a:t>data </a:t>
            </a:r>
            <a:r>
              <a:rPr lang="tr-TR" sz="1600">
                <a:solidFill>
                  <a:srgbClr val="F296EE"/>
                </a:solidFill>
              </a:rPr>
              <a:t>=</a:t>
            </a:r>
            <a:r>
              <a:rPr lang="tr-TR" sz="1600"/>
              <a:t> </a:t>
            </a:r>
            <a:r>
              <a:rPr lang="tr-TR" sz="1600">
                <a:solidFill>
                  <a:srgbClr val="7030A0"/>
                </a:solidFill>
              </a:rPr>
              <a:t>load_data</a:t>
            </a:r>
            <a:r>
              <a:rPr lang="tr-TR" sz="1600"/>
              <a:t>()</a:t>
            </a:r>
            <a:r>
              <a:rPr lang="tr-TR" sz="1600"/>
              <a:t/>
            </a:r>
            <a:br>
              <a:rPr lang="tr-TR" sz="1600"/>
            </a:br>
            <a:r>
              <a:rPr lang="tr-TR" sz="1600" smtClean="0"/>
              <a:t>	</a:t>
            </a:r>
            <a:r>
              <a:rPr lang="tr-TR" sz="1600" smtClean="0">
                <a:solidFill>
                  <a:srgbClr val="7030A0"/>
                </a:solidFill>
              </a:rPr>
              <a:t>model</a:t>
            </a:r>
            <a:r>
              <a:rPr lang="tr-TR" sz="1600" smtClean="0">
                <a:solidFill>
                  <a:srgbClr val="F296EE"/>
                </a:solidFill>
              </a:rPr>
              <a:t>.</a:t>
            </a:r>
            <a:r>
              <a:rPr lang="tr-TR" sz="1600" smtClean="0"/>
              <a:t>fit(</a:t>
            </a:r>
            <a:r>
              <a:rPr lang="tr-TR" sz="1600" smtClean="0">
                <a:solidFill>
                  <a:srgbClr val="7030A0"/>
                </a:solidFill>
              </a:rPr>
              <a:t>data</a:t>
            </a:r>
            <a:r>
              <a:rPr lang="tr-TR" sz="1600"/>
              <a:t>)</a:t>
            </a:r>
            <a:r>
              <a:rPr lang="tr-TR" sz="1600"/>
              <a:t/>
            </a:r>
            <a:br>
              <a:rPr lang="tr-TR" sz="1600"/>
            </a:br>
            <a:r>
              <a:rPr lang="tr-TR" sz="1600" smtClean="0"/>
              <a:t>	</a:t>
            </a:r>
            <a:r>
              <a:rPr lang="tr-TR" sz="1600" smtClean="0">
                <a:solidFill>
                  <a:srgbClr val="7030A0"/>
                </a:solidFill>
              </a:rPr>
              <a:t>joblib</a:t>
            </a:r>
            <a:r>
              <a:rPr lang="tr-TR" sz="1600" smtClean="0">
                <a:solidFill>
                  <a:srgbClr val="F296EE"/>
                </a:solidFill>
              </a:rPr>
              <a:t>.</a:t>
            </a:r>
            <a:r>
              <a:rPr lang="tr-TR" sz="1600" smtClean="0"/>
              <a:t>dump(</a:t>
            </a:r>
            <a:r>
              <a:rPr lang="tr-TR" sz="1600" smtClean="0">
                <a:solidFill>
                  <a:srgbClr val="7030A0"/>
                </a:solidFill>
              </a:rPr>
              <a:t>model</a:t>
            </a:r>
            <a:r>
              <a:rPr lang="tr-TR" sz="1600"/>
              <a:t>, </a:t>
            </a:r>
            <a:r>
              <a:rPr lang="tr-TR" sz="1600">
                <a:solidFill>
                  <a:srgbClr val="00B050"/>
                </a:solidFill>
              </a:rPr>
              <a:t>"model.pkl"</a:t>
            </a:r>
            <a:r>
              <a:rPr lang="tr-TR" sz="1600"/>
              <a:t>)</a:t>
            </a:r>
          </a:p>
          <a:p>
            <a:pPr marL="0" indent="0">
              <a:buNone/>
            </a:pPr>
            <a:endParaRPr lang="tr-TR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659934" y="3460632"/>
            <a:ext cx="83585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Final Mimari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IoT → MQTT → Django → ML API → PostgreSQL → Dashboard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48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</TotalTime>
  <Words>182</Words>
  <Application>Microsoft Office PowerPoint</Application>
  <PresentationFormat>Geniş ekran</PresentationFormat>
  <Paragraphs>71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Century Gothic</vt:lpstr>
      <vt:lpstr>Wingdings 3</vt:lpstr>
      <vt:lpstr>Duman</vt:lpstr>
      <vt:lpstr>Model Entegrasyonu </vt:lpstr>
      <vt:lpstr>1. Entegrasyon Stratejisi</vt:lpstr>
      <vt:lpstr>2. Sistem Entegrasyon Akışı</vt:lpstr>
      <vt:lpstr>4. Tahmin Servisi (Prediction Layer)</vt:lpstr>
      <vt:lpstr>5. Gerçek Zamanlı Entegrasyon</vt:lpstr>
      <vt:lpstr>PowerPoint Sunusu</vt:lpstr>
      <vt:lpstr>8. Sonuçların Kullanımı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Entegrasyonu</dc:title>
  <dc:creator>Alper</dc:creator>
  <cp:lastModifiedBy>Alper</cp:lastModifiedBy>
  <cp:revision>4</cp:revision>
  <dcterms:created xsi:type="dcterms:W3CDTF">2026-05-03T14:24:49Z</dcterms:created>
  <dcterms:modified xsi:type="dcterms:W3CDTF">2026-05-03T14:59:38Z</dcterms:modified>
</cp:coreProperties>
</file>